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3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ступление" id="{C94557F7-1C26-65A6-84A8-4637B65E939C}">
          <p14:sldIdLst>
            <p14:sldId id="263"/>
          </p14:sldIdLst>
        </p14:section>
        <p14:section name="Проблема" id="{858B9970-8ECB-9748-2539-D0F0B2634C46}">
          <p14:sldIdLst>
            <p14:sldId id="257"/>
          </p14:sldIdLst>
        </p14:section>
        <p14:section name="Решение" id="{A83F47CD-26FB-B421-AC77-B2A6E99EF024}">
          <p14:sldIdLst>
            <p14:sldId id="258"/>
          </p14:sldIdLst>
        </p14:section>
        <p14:section name="Конкуренты" id="{D0DDBE83-230A-5BF0-7462-51A282BF289D}">
          <p14:sldIdLst>
            <p14:sldId id="259"/>
          </p14:sldIdLst>
        </p14:section>
        <p14:section name="Путь пользователя" id="{0C898252-5465-9F7F-0E85-2DB5B2015DE0}">
          <p14:sldIdLst>
            <p14:sldId id="260"/>
          </p14:sldIdLst>
        </p14:section>
        <p14:section name="Демо" id="{1EE5DD13-F0E4-9EBE-0549-DB73BB02233A}">
          <p14:sldIdLst>
            <p14:sldId id="261"/>
          </p14:sldIdLst>
        </p14:section>
        <p14:section name="Экономика" id="{9B85DE67-18A2-3D53-F9D9-3536FC3AF8AF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D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30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3359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Аудитория у ОМА огромная, но магазин заканчивается на кассе. Клиент остаётся один на один с поиском мастера, а мастер — с поиском заказов. Мы закрываем разрыв для обеих сторон.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Две стороны в одном приложении. Частное лицо видит дизайн, стройку и бюджет. Бизнес — заказы, заработок и закупку. Посередине ОМА: договор, цена, гарантия и оплата после приёмки.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Ни один способ найти мастера сегодня не связывает материалы и работу. У нас смета из товаров ОМА, материалы одной партией к дате работ, оплата после приёмки и один ответственный.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Две дорожки одного процесса. Клиент идёт от задачи до приёмки, мастер — от регистрации до выплаты. Встречаются на заказе, который ведёт ОМА. После ремонта обе стороны остаются в приложении.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Прототип открывается по ссылке. Показываем регистрацию с выбором частное лицо или бизнес, категории стройки, каталог мастеров с фильтрами, подбор бюджета и кабинет мастера с заработком.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Пилот в Минске стоит 300–500 тысяч рублей за год. С одного заказа ОМА получает около 160 рублей, окупаемость — примерно 2 500 заказов в год. Трафик уже есть: магазины, OMA PRO и «Баланс». Модель законна: ОМА отвечает перед клиентом как исполнитель.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rgbClr val="2416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3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3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rgbClr val="596678"/>
                </a:solidFill>
                <a:latin typeface="Arial"/>
                <a:cs typeface="Arial"/>
              </a:defRPr>
            </a:lvl1pPr>
          </a:lstStyle>
          <a:p>
            <a:pPr marL="139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75" dirty="0">
                <a:solidFill>
                  <a:srgbClr val="B6CCF1"/>
                </a:solidFill>
              </a:rPr>
              <a:t>‹#›</a:t>
            </a:fld>
            <a:r>
              <a:rPr spc="-70" dirty="0">
                <a:solidFill>
                  <a:srgbClr val="B6CCF1"/>
                </a:solidFill>
              </a:rPr>
              <a:t> </a:t>
            </a:r>
            <a:r>
              <a:rPr spc="110" dirty="0">
                <a:solidFill>
                  <a:srgbClr val="B6CCF1"/>
                </a:solidFill>
              </a:rPr>
              <a:t>/</a:t>
            </a:r>
            <a:r>
              <a:rPr spc="-65" dirty="0">
                <a:solidFill>
                  <a:srgbClr val="B6CCF1"/>
                </a:solidFill>
              </a:rPr>
              <a:t> </a:t>
            </a:r>
            <a:r>
              <a:rPr spc="50" dirty="0">
                <a:solidFill>
                  <a:srgbClr val="B6CCF1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111902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3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Qr" Type="http://schemas.openxmlformats.org/officeDocument/2006/relationships/image" Target="../media/image_qr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1B84969-1E8E-465A-978F-06F4E0FFD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9523"/>
            <a:ext cx="12334233" cy="696752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6899" y="1934457"/>
            <a:ext cx="5991563" cy="143485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96899" y="3488689"/>
            <a:ext cx="8572500" cy="2208169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r>
              <a:rPr lang="en-US" sz="2000" b="1" dirty="0" err="1">
                <a:solidFill>
                  <a:schemeClr val="bg1"/>
                </a:solidFill>
              </a:rPr>
              <a:t>Ремонт</a:t>
            </a:r>
            <a:r>
              <a:rPr lang="en-US" sz="2000" b="1" dirty="0">
                <a:solidFill>
                  <a:schemeClr val="bg1"/>
                </a:solidFill>
              </a:rPr>
              <a:t> в </a:t>
            </a:r>
            <a:r>
              <a:rPr lang="en-US" sz="2000" b="1" dirty="0" err="1">
                <a:solidFill>
                  <a:schemeClr val="bg1"/>
                </a:solidFill>
              </a:rPr>
              <a:t>одном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окне</a:t>
            </a:r>
            <a:r>
              <a:rPr lang="en-US" sz="2000" b="1" dirty="0">
                <a:solidFill>
                  <a:schemeClr val="bg1"/>
                </a:solidFill>
              </a:rPr>
              <a:t> — </a:t>
            </a:r>
            <a:r>
              <a:rPr lang="en-US" sz="2000" b="1" dirty="0" err="1">
                <a:solidFill>
                  <a:schemeClr val="bg1"/>
                </a:solidFill>
              </a:rPr>
              <a:t>от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выбора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материалов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до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готового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результата</a:t>
            </a:r>
            <a:endParaRPr lang="en-US" sz="2000" dirty="0"/>
          </a:p>
          <a:p>
            <a:pPr marL="12700" marR="5080">
              <a:lnSpc>
                <a:spcPct val="120500"/>
              </a:lnSpc>
              <a:spcBef>
                <a:spcPts val="60"/>
              </a:spcBef>
            </a:pPr>
            <a:endParaRPr lang="ru-RU" sz="2100" spc="-75" dirty="0">
              <a:solidFill>
                <a:srgbClr val="D5E4FA"/>
              </a:solidFill>
              <a:cs typeface="Arial"/>
            </a:endParaRPr>
          </a:p>
          <a:p>
            <a:pPr marL="12700" marR="5080">
              <a:lnSpc>
                <a:spcPct val="120500"/>
              </a:lnSpc>
              <a:spcBef>
                <a:spcPts val="60"/>
              </a:spcBef>
            </a:pPr>
            <a:r>
              <a:rPr lang="ru-RU" sz="2100" spc="-75" dirty="0" err="1">
                <a:solidFill>
                  <a:srgbClr val="D5E4FA"/>
                </a:solidFill>
                <a:cs typeface="Arial"/>
              </a:rPr>
              <a:t>Мовсик</a:t>
            </a:r>
            <a:r>
              <a:rPr lang="ru-RU" sz="2100" spc="-75" dirty="0">
                <a:solidFill>
                  <a:srgbClr val="D5E4FA"/>
                </a:solidFill>
                <a:cs typeface="Arial"/>
              </a:rPr>
              <a:t> Алексей</a:t>
            </a:r>
          </a:p>
          <a:p>
            <a:pPr marL="12700" marR="5080">
              <a:lnSpc>
                <a:spcPct val="120500"/>
              </a:lnSpc>
              <a:spcBef>
                <a:spcPts val="60"/>
              </a:spcBef>
            </a:pPr>
            <a:r>
              <a:rPr lang="ru-RU" sz="2100" spc="-75" dirty="0">
                <a:solidFill>
                  <a:srgbClr val="D5E4FA"/>
                </a:solidFill>
                <a:cs typeface="Arial"/>
              </a:rPr>
              <a:t>Мухин Захар (спикер)</a:t>
            </a:r>
          </a:p>
          <a:p>
            <a:pPr marL="12700" marR="5080">
              <a:lnSpc>
                <a:spcPct val="120500"/>
              </a:lnSpc>
              <a:spcBef>
                <a:spcPts val="60"/>
              </a:spcBef>
            </a:pPr>
            <a:r>
              <a:rPr lang="ru-RU" sz="2100" spc="-75" dirty="0">
                <a:solidFill>
                  <a:srgbClr val="D5E4FA"/>
                </a:solidFill>
                <a:cs typeface="Arial"/>
              </a:rPr>
              <a:t>Гайдук Никита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-324197" y="0"/>
            <a:ext cx="0" cy="1705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39700">
              <a:lnSpc>
                <a:spcPct val="100000"/>
              </a:lnSpc>
              <a:spcBef>
                <a:spcPts val="190"/>
              </a:spcBef>
            </a:pPr>
            <a:endParaRPr spc="50" dirty="0">
              <a:solidFill>
                <a:srgbClr val="B6CCF1"/>
              </a:solidFill>
            </a:endParaRPr>
          </a:p>
        </p:txBody>
      </p:sp>
      <p:sp>
        <p:nvSpPr>
          <p:cNvPr id="39" name="QR: подложка"/>
          <p:cNvSpPr/>
          <p:nvPr/>
        </p:nvSpPr>
        <p:spPr>
          <a:xfrm>
            <a:off x="9646920" y="1417320"/>
            <a:ext cx="20116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</p:sp>
      <p:pic>
        <p:nvPicPr>
          <p:cNvPr id="40" name="QR-код прототипа" descr="QR-код: kvasiuum.github.io/hackatonoma"/>
          <p:cNvPicPr>
            <a:picLocks noChangeAspect="1"/>
          </p:cNvPicPr>
          <p:nvPr/>
        </p:nvPicPr>
        <p:blipFill>
          <a:blip r:embed="rIdQr"/>
          <a:stretch>
            <a:fillRect/>
          </a:stretch>
        </p:blipFill>
        <p:spPr>
          <a:xfrm>
            <a:off x="9802368" y="1572768"/>
            <a:ext cx="1700784" cy="1700784"/>
          </a:xfrm>
          <a:prstGeom prst="rect">
            <a:avLst/>
          </a:prstGeom>
        </p:spPr>
      </p:pic>
      <p:sp>
        <p:nvSpPr>
          <p:cNvPr id="41" name="QR: подпись"/>
          <p:cNvSpPr txBox="1"/>
          <p:nvPr/>
        </p:nvSpPr>
        <p:spPr>
          <a:xfrm>
            <a:off x="9464040" y="3538728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ctr" marL="0" indent="0">
              <a:buNone/>
            </a:pPr>
            <a:r>
              <a:rPr lang="ru-RU" sz="1400" b="1" dirty="0">
                <a:solidFill>
                  <a:srgbClr val="D5E4FA"/>
                </a:solidFill>
              </a:rPr>
              <a:t>Откройте прототип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Магазин помогает купить, но не помогает сделать</a:t>
            </a:r>
            <a:endParaRPr lang="en-US" sz="3200" dirty="0"/>
          </a:p>
        </p:txBody>
      </p:sp>
      <p:sp>
        <p:nvSpPr>
          <p:cNvPr id="3" name="Цифра 1"/>
          <p:cNvSpPr/>
          <p:nvPr/>
        </p:nvSpPr>
        <p:spPr>
          <a:xfrm>
            <a:off x="548640" y="1325880"/>
            <a:ext cx="3566160" cy="1325880"/>
          </a:xfrm>
          <a:prstGeom prst="roundRect">
            <a:avLst>
              <a:gd name="adj" fmla="val 12414"/>
            </a:avLst>
          </a:prstGeom>
          <a:solidFill>
            <a:srgbClr val="1B1480"/>
          </a:solidFill>
          <a:ln w="12700">
            <a:solidFill>
              <a:srgbClr val="24164F"/>
            </a:solidFill>
            <a:prstDash val="solid"/>
          </a:ln>
          <a:effectLst>
            <a:outerShdw blurRad="101600" dist="25400" dir="5400000" algn="bl" rotWithShape="0">
              <a:srgbClr val="1A1433">
                <a:alpha val="8000"/>
              </a:srgbClr>
            </a:outerShdw>
          </a:effectLst>
        </p:spPr>
      </p:sp>
      <p:sp>
        <p:nvSpPr>
          <p:cNvPr id="4" name="Число 1"/>
          <p:cNvSpPr txBox="1"/>
          <p:nvPr/>
        </p:nvSpPr>
        <p:spPr>
          <a:xfrm>
            <a:off x="822960" y="14630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</a:rPr>
              <a:t>1,3 млн</a:t>
            </a:r>
            <a:endParaRPr lang="en-US" sz="4000" dirty="0"/>
          </a:p>
        </p:txBody>
      </p:sp>
      <p:sp>
        <p:nvSpPr>
          <p:cNvPr id="5" name="Подпись 1"/>
          <p:cNvSpPr txBox="1"/>
          <p:nvPr/>
        </p:nvSpPr>
        <p:spPr>
          <a:xfrm>
            <a:off x="822960" y="21762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BFF0"/>
                </a:solidFill>
              </a:rPr>
              <a:t>посетителей сайта ОМА в месяц</a:t>
            </a:r>
            <a:endParaRPr lang="en-US" sz="1400" dirty="0"/>
          </a:p>
        </p:txBody>
      </p:sp>
      <p:sp>
        <p:nvSpPr>
          <p:cNvPr id="6" name="Цифра 2"/>
          <p:cNvSpPr/>
          <p:nvPr/>
        </p:nvSpPr>
        <p:spPr>
          <a:xfrm>
            <a:off x="4297680" y="1325880"/>
            <a:ext cx="3566160" cy="1325880"/>
          </a:xfrm>
          <a:prstGeom prst="roundRect">
            <a:avLst>
              <a:gd name="adj" fmla="val 124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1A1433">
                <a:alpha val="8000"/>
              </a:srgbClr>
            </a:outerShdw>
          </a:effectLst>
        </p:spPr>
      </p:sp>
      <p:sp>
        <p:nvSpPr>
          <p:cNvPr id="7" name="Число 2"/>
          <p:cNvSpPr txBox="1"/>
          <p:nvPr/>
        </p:nvSpPr>
        <p:spPr>
          <a:xfrm>
            <a:off x="4572000" y="14630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tx2"/>
                </a:solidFill>
              </a:rPr>
              <a:t>800 тыс.</a:t>
            </a:r>
            <a:endParaRPr lang="en-US" sz="4000" dirty="0"/>
          </a:p>
        </p:txBody>
      </p:sp>
      <p:sp>
        <p:nvSpPr>
          <p:cNvPr id="8" name="Подпись 2"/>
          <p:cNvSpPr txBox="1"/>
          <p:nvPr/>
        </p:nvSpPr>
        <p:spPr>
          <a:xfrm>
            <a:off x="4572000" y="21762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участников программы «Баланс»</a:t>
            </a:r>
            <a:endParaRPr lang="en-US" sz="1400" dirty="0"/>
          </a:p>
        </p:txBody>
      </p:sp>
      <p:sp>
        <p:nvSpPr>
          <p:cNvPr id="9" name="Цифра 3"/>
          <p:cNvSpPr/>
          <p:nvPr/>
        </p:nvSpPr>
        <p:spPr>
          <a:xfrm>
            <a:off x="8046720" y="1325880"/>
            <a:ext cx="3566160" cy="1325880"/>
          </a:xfrm>
          <a:prstGeom prst="roundRect">
            <a:avLst>
              <a:gd name="adj" fmla="val 124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1A1433">
                <a:alpha val="8000"/>
              </a:srgbClr>
            </a:outerShdw>
          </a:effectLst>
        </p:spPr>
      </p:sp>
      <p:sp>
        <p:nvSpPr>
          <p:cNvPr id="10" name="Число 3"/>
          <p:cNvSpPr txBox="1"/>
          <p:nvPr/>
        </p:nvSpPr>
        <p:spPr>
          <a:xfrm>
            <a:off x="8321040" y="14630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tx2"/>
                </a:solidFill>
              </a:rPr>
              <a:t>4 000+</a:t>
            </a:r>
            <a:endParaRPr lang="en-US" sz="4000" dirty="0"/>
          </a:p>
        </p:txBody>
      </p:sp>
      <p:sp>
        <p:nvSpPr>
          <p:cNvPr id="11" name="Подпись 3"/>
          <p:cNvSpPr txBox="1"/>
          <p:nvPr/>
        </p:nvSpPr>
        <p:spPr>
          <a:xfrm>
            <a:off x="8321040" y="21762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компаний и ИП в OMA PRO в месяц</a:t>
            </a:r>
            <a:endParaRPr lang="en-US" sz="1400" dirty="0"/>
          </a:p>
        </p:txBody>
      </p:sp>
      <p:sp>
        <p:nvSpPr>
          <p:cNvPr id="12" name="Сторона 1"/>
          <p:cNvSpPr/>
          <p:nvPr/>
        </p:nvSpPr>
        <p:spPr>
          <a:xfrm>
            <a:off x="548640" y="2880360"/>
            <a:ext cx="544068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1A1433">
                <a:alpha val="8000"/>
              </a:srgbClr>
            </a:outerShdw>
          </a:effectLst>
        </p:spPr>
      </p:sp>
      <p:pic>
        <p:nvPicPr>
          <p:cNvPr id="13" name="Иконка 1" descr="/tmp/claude-0/-home-user-hackatonoma/e77f010d-b8c6-588a-a375-3aa4548717b1/scratchpad/deckgen/assets/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3017520"/>
            <a:ext cx="914400" cy="914400"/>
          </a:xfrm>
          <a:prstGeom prst="rect">
            <a:avLst/>
          </a:prstGeom>
        </p:spPr>
      </p:pic>
      <p:sp>
        <p:nvSpPr>
          <p:cNvPr id="14" name="Заголовок 1"/>
          <p:cNvSpPr txBox="1"/>
          <p:nvPr/>
        </p:nvSpPr>
        <p:spPr>
          <a:xfrm>
            <a:off x="822960" y="30632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Частный клиент</a:t>
            </a:r>
            <a:endParaRPr lang="en-US" sz="2000" dirty="0"/>
          </a:p>
        </p:txBody>
      </p:sp>
      <p:sp>
        <p:nvSpPr>
          <p:cNvPr id="15" name="Аудитория 1"/>
          <p:cNvSpPr txBox="1"/>
          <p:nvPr/>
        </p:nvSpPr>
        <p:spPr>
          <a:xfrm>
            <a:off x="822960" y="35204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Владельцы квартир и домов 20–60 лет: покупают материалы, но не делают ремонт сами</a:t>
            </a:r>
            <a:endParaRPr lang="en-US" sz="1200" dirty="0"/>
          </a:p>
        </p:txBody>
      </p:sp>
      <p:sp>
        <p:nvSpPr>
          <p:cNvPr id="16" name="Боли 1"/>
          <p:cNvSpPr txBox="1"/>
          <p:nvPr/>
        </p:nvSpPr>
        <p:spPr>
          <a:xfrm>
            <a:off x="822960" y="4206240"/>
            <a:ext cx="4892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Материалы покупает в ОМА, мастера ищет по знакомым и объявлениям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Не знает, сколько стоит ремонт целиком и где сэкономить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Нет одного ответственного: при проблеме виноватого ищет сам</a:t>
            </a:r>
            <a:endParaRPr lang="en-US" sz="1400" dirty="0"/>
          </a:p>
        </p:txBody>
      </p:sp>
      <p:sp>
        <p:nvSpPr>
          <p:cNvPr id="17" name="Сторона 2"/>
          <p:cNvSpPr/>
          <p:nvPr/>
        </p:nvSpPr>
        <p:spPr>
          <a:xfrm>
            <a:off x="6172200" y="2880360"/>
            <a:ext cx="544068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1A1433">
                <a:alpha val="8000"/>
              </a:srgbClr>
            </a:outerShdw>
          </a:effectLst>
        </p:spPr>
      </p:sp>
      <p:pic>
        <p:nvPicPr>
          <p:cNvPr id="18" name="Иконка 2" descr="/tmp/claude-0/-home-user-hackatonoma/e77f010d-b8c6-588a-a375-3aa4548717b1/scratchpad/deckgen/assets/briefc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0" y="3017520"/>
            <a:ext cx="914400" cy="914400"/>
          </a:xfrm>
          <a:prstGeom prst="rect">
            <a:avLst/>
          </a:prstGeom>
        </p:spPr>
      </p:pic>
      <p:sp>
        <p:nvSpPr>
          <p:cNvPr id="19" name="Заголовок 2"/>
          <p:cNvSpPr txBox="1"/>
          <p:nvPr/>
        </p:nvSpPr>
        <p:spPr>
          <a:xfrm>
            <a:off x="6446520" y="30632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Мастер и бригада</a:t>
            </a:r>
            <a:endParaRPr lang="en-US" sz="2000" dirty="0"/>
          </a:p>
        </p:txBody>
      </p:sp>
      <p:sp>
        <p:nvSpPr>
          <p:cNvPr id="20" name="Аудитория 2"/>
          <p:cNvSpPr txBox="1"/>
          <p:nvPr/>
        </p:nvSpPr>
        <p:spPr>
          <a:xfrm>
            <a:off x="6446520" y="35204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ИП и небольшие компании — клиенты OMA PRO, которые делают ремонт под заказ</a:t>
            </a:r>
            <a:endParaRPr lang="en-US" sz="1200" dirty="0"/>
          </a:p>
        </p:txBody>
      </p:sp>
      <p:sp>
        <p:nvSpPr>
          <p:cNvPr id="21" name="Боли 2"/>
          <p:cNvSpPr txBox="1"/>
          <p:nvPr/>
        </p:nvSpPr>
        <p:spPr>
          <a:xfrm>
            <a:off x="6446520" y="4206240"/>
            <a:ext cx="4892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Заказы нерегулярные: клиентов ищут через знакомых и объявления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Закупка под каждый объект отнимает время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Оплата — по договорённости, без гарантий и документов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3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sp>
        <p:nvSpPr>
          <p:cNvPr id="50" name="Одним словом 1"/>
          <p:cNvSpPr/>
          <p:nvPr/>
        </p:nvSpPr>
        <p:spPr>
          <a:xfrm>
            <a:off x="3566160" y="5641848"/>
            <a:ext cx="2148840" cy="402336"/>
          </a:xfrm>
          <a:prstGeom prst="roundRect">
            <a:avLst>
              <a:gd name="adj" fmla="val 50000"/>
            </a:avLst>
          </a:prstGeom>
          <a:solidFill>
            <a:srgbClr val="FFF1E2"/>
          </a:solidFill>
          <a:ln>
            <a:noFill/>
          </a:ln>
        </p:spPr>
      </p:sp>
      <p:sp>
        <p:nvSpPr>
          <p:cNvPr id="51" name="Одним словом 1: текст"/>
          <p:cNvSpPr txBox="1"/>
          <p:nvPr/>
        </p:nvSpPr>
        <p:spPr>
          <a:xfrm>
            <a:off x="3566160" y="5641848"/>
            <a:ext cx="2148840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buNone/>
            </a:pPr>
            <a:r>
              <a:rPr lang="ru-RU" sz="1600" b="1" dirty="0">
                <a:solidFill>
                  <a:srgbClr val="C25E00"/>
                </a:solidFill>
              </a:rPr>
              <a:t>Неопределённость</a:t>
            </a:r>
          </a:p>
        </p:txBody>
      </p:sp>
      <p:sp>
        <p:nvSpPr>
          <p:cNvPr id="52" name="Одним словом 2"/>
          <p:cNvSpPr/>
          <p:nvPr/>
        </p:nvSpPr>
        <p:spPr>
          <a:xfrm>
            <a:off x="9189720" y="5641848"/>
            <a:ext cx="2148840" cy="402336"/>
          </a:xfrm>
          <a:prstGeom prst="roundRect">
            <a:avLst>
              <a:gd name="adj" fmla="val 50000"/>
            </a:avLst>
          </a:prstGeom>
          <a:solidFill>
            <a:srgbClr val="FFF1E2"/>
          </a:solidFill>
          <a:ln>
            <a:noFill/>
          </a:ln>
        </p:spPr>
      </p:sp>
      <p:sp>
        <p:nvSpPr>
          <p:cNvPr id="53" name="Одним словом 2: текст"/>
          <p:cNvSpPr txBox="1"/>
          <p:nvPr/>
        </p:nvSpPr>
        <p:spPr>
          <a:xfrm>
            <a:off x="9189720" y="5641848"/>
            <a:ext cx="2148840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 marL="0" indent="0">
              <a:buNone/>
            </a:pPr>
            <a:r>
              <a:rPr lang="ru-RU" sz="1600" b="1" dirty="0">
                <a:solidFill>
                  <a:srgbClr val="C25E00"/>
                </a:solidFill>
              </a:rPr>
              <a:t>Нестабильность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Решение: одно приложение для двух сторон ремонта</a:t>
            </a:r>
            <a:endParaRPr lang="en-US" sz="3200" dirty="0"/>
          </a:p>
        </p:txBody>
      </p:sp>
      <p:sp>
        <p:nvSpPr>
          <p:cNvPr id="3" name="Частное лицо"/>
          <p:cNvSpPr/>
          <p:nvPr/>
        </p:nvSpPr>
        <p:spPr>
          <a:xfrm>
            <a:off x="548640" y="1325880"/>
            <a:ext cx="3794760" cy="3977640"/>
          </a:xfrm>
          <a:prstGeom prst="roundRect">
            <a:avLst>
              <a:gd name="adj" fmla="val 433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1A1433">
                <a:alpha val="8000"/>
              </a:srgbClr>
            </a:outerShdw>
          </a:effectLst>
        </p:spPr>
      </p:sp>
      <p:pic>
        <p:nvPicPr>
          <p:cNvPr id="4" name="Частное лицо: иконка" descr="/tmp/claude-0/-home-user-hackatonoma/e77f010d-b8c6-588a-a375-3aa4548717b1/scratchpad/deckgen/assets/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1463040"/>
            <a:ext cx="822960" cy="822960"/>
          </a:xfrm>
          <a:prstGeom prst="rect">
            <a:avLst/>
          </a:prstGeom>
        </p:spPr>
      </p:pic>
      <p:sp>
        <p:nvSpPr>
          <p:cNvPr id="5" name="Частное лицо: заголовок"/>
          <p:cNvSpPr txBox="1"/>
          <p:nvPr/>
        </p:nvSpPr>
        <p:spPr>
          <a:xfrm>
            <a:off x="822960" y="15087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Частное лицо</a:t>
            </a:r>
            <a:endParaRPr lang="en-US" sz="2000" dirty="0"/>
          </a:p>
        </p:txBody>
      </p:sp>
      <p:sp>
        <p:nvSpPr>
          <p:cNvPr id="6" name="Частное лицо: подзаголовок"/>
          <p:cNvSpPr txBox="1"/>
          <p:nvPr/>
        </p:nvSpPr>
        <p:spPr>
          <a:xfrm>
            <a:off x="822960" y="193852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Ремонт для себя</a:t>
            </a:r>
            <a:endParaRPr lang="en-US" sz="1200" dirty="0"/>
          </a:p>
        </p:txBody>
      </p:sp>
      <p:sp>
        <p:nvSpPr>
          <p:cNvPr id="7" name="Частное лицо: функции"/>
          <p:cNvSpPr txBox="1"/>
          <p:nvPr/>
        </p:nvSpPr>
        <p:spPr>
          <a:xfrm>
            <a:off x="822960" y="2468880"/>
            <a:ext cx="3337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Дизайн комнат, 3D кухни и санузла бесплатно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Мастера и бригады с фильтрами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Подбор решения и бюджета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Ремонт под ключ по этапам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Паспорт дома и бонусы «Баланс»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Прокат у магазина и у соседа</a:t>
            </a:r>
            <a:endParaRPr lang="en-US" sz="1400" dirty="0"/>
          </a:p>
        </p:txBody>
      </p:sp>
      <p:sp>
        <p:nvSpPr>
          <p:cNvPr id="8" name="Бизнес"/>
          <p:cNvSpPr/>
          <p:nvPr/>
        </p:nvSpPr>
        <p:spPr>
          <a:xfrm>
            <a:off x="7848295" y="1325880"/>
            <a:ext cx="3794760" cy="3977640"/>
          </a:xfrm>
          <a:prstGeom prst="roundRect">
            <a:avLst>
              <a:gd name="adj" fmla="val 433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1A1433">
                <a:alpha val="8000"/>
              </a:srgbClr>
            </a:outerShdw>
          </a:effectLst>
        </p:spPr>
      </p:sp>
      <p:pic>
        <p:nvPicPr>
          <p:cNvPr id="9" name="Бизнес: иконка" descr="/tmp/claude-0/-home-user-hackatonoma/e77f010d-b8c6-588a-a375-3aa4548717b1/scratchpad/deckgen/assets/briefc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7215" y="1463040"/>
            <a:ext cx="822960" cy="822960"/>
          </a:xfrm>
          <a:prstGeom prst="rect">
            <a:avLst/>
          </a:prstGeom>
        </p:spPr>
      </p:pic>
      <p:sp>
        <p:nvSpPr>
          <p:cNvPr id="10" name="Бизнес: заголовок"/>
          <p:cNvSpPr txBox="1"/>
          <p:nvPr/>
        </p:nvSpPr>
        <p:spPr>
          <a:xfrm>
            <a:off x="8122615" y="15087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Бизнес</a:t>
            </a:r>
            <a:endParaRPr lang="en-US" sz="2000" dirty="0"/>
          </a:p>
        </p:txBody>
      </p:sp>
      <p:sp>
        <p:nvSpPr>
          <p:cNvPr id="11" name="Бизнес: подзаголовок"/>
          <p:cNvSpPr txBox="1"/>
          <p:nvPr/>
        </p:nvSpPr>
        <p:spPr>
          <a:xfrm>
            <a:off x="8122615" y="193852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Мастер, бригада, компания</a:t>
            </a:r>
            <a:endParaRPr lang="en-US" sz="1200" dirty="0"/>
          </a:p>
        </p:txBody>
      </p:sp>
      <p:sp>
        <p:nvSpPr>
          <p:cNvPr id="12" name="Бизнес: функции"/>
          <p:cNvSpPr txBox="1"/>
          <p:nvPr/>
        </p:nvSpPr>
        <p:spPr>
          <a:xfrm>
            <a:off x="8122615" y="2468880"/>
            <a:ext cx="3337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Регистрация и проверка ОМА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Заявки от ОМА — принять в один клик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Заказы и заработок за любой период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Закупка по ценам OMA PRO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Прокат техники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Договор, акты и счета в приложении</a:t>
            </a:r>
            <a:endParaRPr lang="en-US" sz="1400" dirty="0"/>
          </a:p>
        </p:txBody>
      </p:sp>
      <p:sp>
        <p:nvSpPr>
          <p:cNvPr id="13" name="ОМА"/>
          <p:cNvSpPr/>
          <p:nvPr/>
        </p:nvSpPr>
        <p:spPr>
          <a:xfrm>
            <a:off x="4617720" y="1325880"/>
            <a:ext cx="2956255" cy="3977640"/>
          </a:xfrm>
          <a:prstGeom prst="roundRect">
            <a:avLst>
              <a:gd name="adj" fmla="val 5568"/>
            </a:avLst>
          </a:prstGeom>
          <a:solidFill>
            <a:srgbClr val="1B1480"/>
          </a:solidFill>
          <a:ln w="12700">
            <a:solidFill>
              <a:srgbClr val="24164F"/>
            </a:solidFill>
            <a:prstDash val="solid"/>
          </a:ln>
          <a:effectLst>
            <a:outerShdw blurRad="101600" dist="25400" dir="5400000" algn="bl" rotWithShape="0">
              <a:srgbClr val="1A1433">
                <a:alpha val="8000"/>
              </a:srgbClr>
            </a:outerShdw>
          </a:effectLst>
        </p:spPr>
      </p:sp>
      <p:pic>
        <p:nvPicPr>
          <p:cNvPr id="14" name="ОМА: логотип" descr="/tmp/claude-0/-home-user-hackatonoma/e77f010d-b8c6-588a-a375-3aa4548717b1/scratchpad/deckgen/assets/lockup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1645920"/>
            <a:ext cx="2316175" cy="553035"/>
          </a:xfrm>
          <a:prstGeom prst="rect">
            <a:avLst/>
          </a:prstGeom>
        </p:spPr>
      </p:pic>
      <p:sp>
        <p:nvSpPr>
          <p:cNvPr id="15" name="ОМА: роль"/>
          <p:cNvSpPr txBox="1"/>
          <p:nvPr/>
        </p:nvSpPr>
        <p:spPr>
          <a:xfrm>
            <a:off x="4937760" y="2560320"/>
            <a:ext cx="2316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Отвечает ОМА</a:t>
            </a:r>
            <a:endParaRPr lang="en-US" sz="1600" dirty="0"/>
          </a:p>
        </p:txBody>
      </p:sp>
      <p:sp>
        <p:nvSpPr>
          <p:cNvPr id="16" name="ОМА: гарантии"/>
          <p:cNvSpPr txBox="1"/>
          <p:nvPr/>
        </p:nvSpPr>
        <p:spPr>
          <a:xfrm>
            <a:off x="4937760" y="3017520"/>
            <a:ext cx="240761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9BFF0"/>
                </a:solidFill>
              </a:rPr>
              <a:t>Договор с клиентом на товары и подряд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9BFF0"/>
                </a:solidFill>
              </a:rPr>
              <a:t>Мастера — проверенные субподрядчики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9BFF0"/>
                </a:solidFill>
              </a:rPr>
              <a:t>Цена фиксируется до начала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9BFF0"/>
                </a:solidFill>
              </a:rPr>
              <a:t>Оплата этапа — после приёмки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9BFF0"/>
                </a:solidFill>
              </a:rPr>
              <a:t>Гарантия ОМА на всё</a:t>
            </a:r>
            <a:endParaRPr lang="en-US" sz="1300" dirty="0"/>
          </a:p>
        </p:txBody>
      </p:sp>
      <p:sp>
        <p:nvSpPr>
          <p:cNvPr id="17" name="Стрелка 1"/>
          <p:cNvSpPr/>
          <p:nvPr/>
        </p:nvSpPr>
        <p:spPr>
          <a:xfrm>
            <a:off x="4389120" y="3108960"/>
            <a:ext cx="192024" cy="365760"/>
          </a:xfrm>
          <a:prstGeom prst="rightArrow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18" name="Стрелка 2"/>
          <p:cNvSpPr/>
          <p:nvPr/>
        </p:nvSpPr>
        <p:spPr>
          <a:xfrm>
            <a:off x="7619695" y="3108960"/>
            <a:ext cx="192024" cy="365760"/>
          </a:xfrm>
          <a:prstGeom prst="leftArrow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19" name="Результат"/>
          <p:cNvSpPr/>
          <p:nvPr/>
        </p:nvSpPr>
        <p:spPr>
          <a:xfrm>
            <a:off x="548640" y="5486400"/>
            <a:ext cx="11094415" cy="731520"/>
          </a:xfrm>
          <a:prstGeom prst="roundRect">
            <a:avLst>
              <a:gd name="adj" fmla="val 22500"/>
            </a:avLst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20" name="Результат: текст"/>
          <p:cNvSpPr txBox="1"/>
          <p:nvPr/>
        </p:nvSpPr>
        <p:spPr>
          <a:xfrm>
            <a:off x="822960" y="5559552"/>
            <a:ext cx="1054577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1300"/>
                </a:solidFill>
              </a:rPr>
              <a:t>Результат: </a:t>
            </a:r>
            <a:r>
              <a:rPr lang="en-US" sz="1500" dirty="0">
                <a:solidFill>
                  <a:srgbClr val="1D1300"/>
                </a:solidFill>
              </a:rPr>
              <a:t>от сметы до старта работ — до 10 дней, цена известна до начала, один ответственный за товар и работу, вся история — в приложении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3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Чем мы лучше альтернатив</a:t>
            </a:r>
            <a:endParaRPr lang="en-US" sz="3200" dirty="0"/>
          </a:p>
        </p:txBody>
      </p:sp>
      <p:sp>
        <p:nvSpPr>
          <p:cNvPr id="4" name="Преимущество 1"/>
          <p:cNvSpPr/>
          <p:nvPr/>
        </p:nvSpPr>
        <p:spPr>
          <a:xfrm>
            <a:off x="548640" y="4983480"/>
            <a:ext cx="5440680" cy="1143000"/>
          </a:xfrm>
          <a:prstGeom prst="roundRect">
            <a:avLst>
              <a:gd name="adj" fmla="val 14400"/>
            </a:avLst>
          </a:prstGeom>
          <a:solidFill>
            <a:srgbClr val="1B1480"/>
          </a:solidFill>
          <a:ln w="12700">
            <a:solidFill>
              <a:srgbClr val="24164F"/>
            </a:solidFill>
            <a:prstDash val="solid"/>
          </a:ln>
          <a:effectLst>
            <a:outerShdw blurRad="101600" dist="25400" dir="5400000" algn="bl" rotWithShape="0">
              <a:srgbClr val="1A1433">
                <a:alpha val="8000"/>
              </a:srgbClr>
            </a:outerShdw>
          </a:effectLst>
        </p:spPr>
      </p:sp>
      <p:sp>
        <p:nvSpPr>
          <p:cNvPr id="3" name="Преимущество 1: заголовок"/>
          <p:cNvSpPr txBox="1"/>
          <p:nvPr/>
        </p:nvSpPr>
        <p:spPr>
          <a:xfrm>
            <a:off x="822960" y="51206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9A3D"/>
                </a:solidFill>
              </a:rPr>
              <a:t>Смета из товаров ОМА</a:t>
            </a:r>
            <a:endParaRPr lang="en-US" sz="1700" dirty="0"/>
          </a:p>
        </p:txBody>
      </p:sp>
      <p:sp>
        <p:nvSpPr>
          <p:cNvPr id="6" name="Преимущество 1: текст"/>
          <p:cNvSpPr txBox="1"/>
          <p:nvPr/>
        </p:nvSpPr>
        <p:spPr>
          <a:xfrm>
            <a:off x="822960" y="550468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Материалы и работы в одном итоге: клиент видит цену ремонта сразу</a:t>
            </a:r>
            <a:endParaRPr lang="en-US" sz="1300" dirty="0"/>
          </a:p>
        </p:txBody>
      </p:sp>
      <p:sp>
        <p:nvSpPr>
          <p:cNvPr id="7" name="Преимущество 2"/>
          <p:cNvSpPr/>
          <p:nvPr/>
        </p:nvSpPr>
        <p:spPr>
          <a:xfrm>
            <a:off x="6172200" y="4983480"/>
            <a:ext cx="5440680" cy="1143000"/>
          </a:xfrm>
          <a:prstGeom prst="roundRect">
            <a:avLst>
              <a:gd name="adj" fmla="val 14400"/>
            </a:avLst>
          </a:prstGeom>
          <a:solidFill>
            <a:srgbClr val="1B1480"/>
          </a:solidFill>
          <a:ln w="12700">
            <a:solidFill>
              <a:srgbClr val="24164F"/>
            </a:solidFill>
            <a:prstDash val="solid"/>
          </a:ln>
          <a:effectLst>
            <a:outerShdw blurRad="101600" dist="25400" dir="5400000" algn="bl" rotWithShape="0">
              <a:srgbClr val="1A1433">
                <a:alpha val="8000"/>
              </a:srgbClr>
            </a:outerShdw>
          </a:effectLst>
        </p:spPr>
      </p:sp>
      <p:sp>
        <p:nvSpPr>
          <p:cNvPr id="8" name="Преимущество 2: заголовок"/>
          <p:cNvSpPr txBox="1"/>
          <p:nvPr/>
        </p:nvSpPr>
        <p:spPr>
          <a:xfrm>
            <a:off x="6446520" y="51206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9A3D"/>
                </a:solidFill>
              </a:rPr>
              <a:t>Проверено ОМА</a:t>
            </a:r>
            <a:endParaRPr lang="en-US" sz="1700" dirty="0"/>
          </a:p>
        </p:txBody>
      </p:sp>
      <p:sp>
        <p:nvSpPr>
          <p:cNvPr id="9" name="Преимущество 2: текст"/>
          <p:cNvSpPr txBox="1"/>
          <p:nvPr/>
        </p:nvSpPr>
        <p:spPr>
          <a:xfrm>
            <a:off x="6446520" y="550468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УНП, допуски и рейтинг только по заказам через ОМА — вместо анонимных объявлений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3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60" name="Альтернатива 1"/>
          <p:cNvSpPr/>
          <p:nvPr/>
        </p:nvSpPr>
        <p:spPr>
          <a:xfrm>
            <a:off x="548640" y="1280160"/>
            <a:ext cx="2109155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25400" dir="5400000" algn="bl" rotWithShape="0">
              <a:srgbClr val="1A1433">
                <a:alpha val="8000"/>
              </a:srgbClr>
            </a:outerShdw>
          </a:effectLst>
        </p:spPr>
      </p:sp>
      <p:sp>
        <p:nvSpPr>
          <p:cNvPr id="61" name="Альтернатива 1: текст"/>
          <p:cNvSpPr txBox="1"/>
          <p:nvPr/>
        </p:nvSpPr>
        <p:spPr>
          <a:xfrm>
            <a:off x="713232" y="1463040"/>
            <a:ext cx="1779971" cy="32461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 marL="0" indent="0">
              <a:buNone/>
            </a:pPr>
            <a:r>
              <a:rPr lang="ru-RU" sz="1500" b="1" dirty="0">
                <a:solidFill>
                  <a:srgbClr val="24164F"/>
                </a:solidFill>
              </a:rPr>
              <a:t>Объявления</a:t>
            </a:r>
          </a:p>
          <a:p>
            <a:pPr algn="l" marL="0" indent="0">
              <a:spcAft>
                <a:spcPts val="800"/>
              </a:spcAft>
              <a:buNone/>
            </a:pPr>
            <a:r>
              <a:rPr lang="ru-RU" sz="1100" dirty="0">
                <a:solidFill>
                  <a:srgbClr val="6B7385"/>
                </a:solidFill>
              </a:rPr>
              <a:t>Kufar, соцсети</a:t>
            </a:r>
          </a:p>
          <a:p>
            <a:pPr algn="l" marL="0" indent="0">
              <a:spcAft>
                <a:spcPts val="300"/>
              </a:spcAft>
              <a:buNone/>
            </a:pPr>
            <a:r>
              <a:rPr lang="ru-RU" sz="1050" b="1" dirty="0">
                <a:solidFill>
                  <a:srgbClr val="6B7385"/>
                </a:solidFill>
              </a:rPr>
              <a:t>Сильные стороны</a:t>
            </a:r>
          </a:p>
          <a:p>
            <a:pPr algn="l" marL="171450" indent="-171450">
              <a:spcAft>
                <a:spcPts val="300"/>
              </a:spcAft>
              <a:buClr>
                <a:srgbClr val="005DD6"/>
              </a:buClr>
              <a:buFont typeface="Arial"/>
              <a:buChar char="+"/>
            </a:pPr>
            <a:r>
              <a:rPr lang="ru-RU" sz="1200" dirty="0">
                <a:solidFill>
                  <a:srgbClr val="1A1433"/>
                </a:solidFill>
              </a:rPr>
              <a:t>Много мастеров, найти быстро</a:t>
            </a:r>
          </a:p>
          <a:p>
            <a:pPr algn="l" marL="171450" indent="-171450">
              <a:spcAft>
                <a:spcPts val="300"/>
              </a:spcAft>
              <a:buClr>
                <a:srgbClr val="005DD6"/>
              </a:buClr>
              <a:buFont typeface="Arial"/>
              <a:buChar char="+"/>
            </a:pPr>
            <a:r>
              <a:rPr lang="ru-RU" sz="1200" dirty="0">
                <a:solidFill>
                  <a:srgbClr val="1A1433"/>
                </a:solidFill>
              </a:rPr>
              <a:t>Цены часто ниже рынка</a:t>
            </a:r>
          </a:p>
          <a:p>
            <a:pPr algn="l" marL="0" indent="0">
              <a:spcBef>
                <a:spcPts val="800"/>
              </a:spcBef>
              <a:spcAft>
                <a:spcPts val="300"/>
              </a:spcAft>
              <a:buNone/>
            </a:pPr>
            <a:r>
              <a:rPr lang="ru-RU" sz="1050" b="1" dirty="0">
                <a:solidFill>
                  <a:srgbClr val="6B7385"/>
                </a:solidFill>
              </a:rPr>
              <a:t>Слабые стороны</a:t>
            </a:r>
          </a:p>
          <a:p>
            <a:pPr algn="l" marL="171450" indent="-171450">
              <a:spcAft>
                <a:spcPts val="300"/>
              </a:spcAft>
              <a:buClr>
                <a:srgbClr val="C25E00"/>
              </a:buClr>
              <a:buFont typeface="Arial"/>
              <a:buChar char="–"/>
            </a:pPr>
            <a:r>
              <a:rPr lang="ru-RU" sz="1200" dirty="0">
                <a:solidFill>
                  <a:srgbClr val="1A1433"/>
                </a:solidFill>
              </a:rPr>
              <a:t>Нет проверки и гарантии</a:t>
            </a:r>
          </a:p>
          <a:p>
            <a:pPr algn="l" marL="171450" indent="-171450">
              <a:spcAft>
                <a:spcPts val="300"/>
              </a:spcAft>
              <a:buClr>
                <a:srgbClr val="C25E00"/>
              </a:buClr>
              <a:buFont typeface="Arial"/>
              <a:buChar char="–"/>
            </a:pPr>
            <a:r>
              <a:rPr lang="ru-RU" sz="1200" dirty="0">
                <a:solidFill>
                  <a:srgbClr val="1A1433"/>
                </a:solidFill>
              </a:rPr>
              <a:t>Материалы клиент считает и покупает сам</a:t>
            </a:r>
          </a:p>
        </p:txBody>
      </p:sp>
      <p:sp>
        <p:nvSpPr>
          <p:cNvPr id="62" name="Альтернатива 2"/>
          <p:cNvSpPr/>
          <p:nvPr/>
        </p:nvSpPr>
        <p:spPr>
          <a:xfrm>
            <a:off x="2794955" y="1280160"/>
            <a:ext cx="2109155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25400" dir="5400000" algn="bl" rotWithShape="0">
              <a:srgbClr val="1A1433">
                <a:alpha val="8000"/>
              </a:srgbClr>
            </a:outerShdw>
          </a:effectLst>
        </p:spPr>
      </p:sp>
      <p:sp>
        <p:nvSpPr>
          <p:cNvPr id="63" name="Альтернатива 2: текст"/>
          <p:cNvSpPr txBox="1"/>
          <p:nvPr/>
        </p:nvSpPr>
        <p:spPr>
          <a:xfrm>
            <a:off x="2959547" y="1463040"/>
            <a:ext cx="1779971" cy="32461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 marL="0" indent="0">
              <a:buNone/>
            </a:pPr>
            <a:r>
              <a:rPr lang="ru-RU" sz="1500" b="1" dirty="0">
                <a:solidFill>
                  <a:srgbClr val="24164F"/>
                </a:solidFill>
              </a:rPr>
              <a:t>По знакомству</a:t>
            </a:r>
          </a:p>
          <a:p>
            <a:pPr algn="l" marL="0" indent="0">
              <a:spcAft>
                <a:spcPts val="800"/>
              </a:spcAft>
              <a:buNone/>
            </a:pPr>
            <a:r>
              <a:rPr lang="ru-RU" sz="1100" dirty="0">
                <a:solidFill>
                  <a:srgbClr val="6B7385"/>
                </a:solidFill>
              </a:rPr>
              <a:t>рекомендации друзей</a:t>
            </a:r>
          </a:p>
          <a:p>
            <a:pPr algn="l" marL="0" indent="0">
              <a:spcAft>
                <a:spcPts val="300"/>
              </a:spcAft>
              <a:buNone/>
            </a:pPr>
            <a:r>
              <a:rPr lang="ru-RU" sz="1050" b="1" dirty="0">
                <a:solidFill>
                  <a:srgbClr val="6B7385"/>
                </a:solidFill>
              </a:rPr>
              <a:t>Сильные стороны</a:t>
            </a:r>
          </a:p>
          <a:p>
            <a:pPr algn="l" marL="171450" indent="-171450">
              <a:spcAft>
                <a:spcPts val="300"/>
              </a:spcAft>
              <a:buClr>
                <a:srgbClr val="005DD6"/>
              </a:buClr>
              <a:buFont typeface="Arial"/>
              <a:buChar char="+"/>
            </a:pPr>
            <a:r>
              <a:rPr lang="ru-RU" sz="1200" dirty="0">
                <a:solidFill>
                  <a:srgbClr val="1A1433"/>
                </a:solidFill>
              </a:rPr>
              <a:t>Доверие к мастеру</a:t>
            </a:r>
          </a:p>
          <a:p>
            <a:pPr algn="l" marL="171450" indent="-171450">
              <a:spcAft>
                <a:spcPts val="300"/>
              </a:spcAft>
              <a:buClr>
                <a:srgbClr val="005DD6"/>
              </a:buClr>
              <a:buFont typeface="Arial"/>
              <a:buChar char="+"/>
            </a:pPr>
            <a:r>
              <a:rPr lang="ru-RU" sz="1200" dirty="0">
                <a:solidFill>
                  <a:srgbClr val="1A1433"/>
                </a:solidFill>
              </a:rPr>
              <a:t>Гибкая цена и сроки</a:t>
            </a:r>
          </a:p>
          <a:p>
            <a:pPr algn="l" marL="0" indent="0">
              <a:spcBef>
                <a:spcPts val="800"/>
              </a:spcBef>
              <a:spcAft>
                <a:spcPts val="300"/>
              </a:spcAft>
              <a:buNone/>
            </a:pPr>
            <a:r>
              <a:rPr lang="ru-RU" sz="1050" b="1" dirty="0">
                <a:solidFill>
                  <a:srgbClr val="6B7385"/>
                </a:solidFill>
              </a:rPr>
              <a:t>Слабые стороны</a:t>
            </a:r>
          </a:p>
          <a:p>
            <a:pPr algn="l" marL="171450" indent="-171450">
              <a:spcAft>
                <a:spcPts val="300"/>
              </a:spcAft>
              <a:buClr>
                <a:srgbClr val="C25E00"/>
              </a:buClr>
              <a:buFont typeface="Arial"/>
              <a:buChar char="–"/>
            </a:pPr>
            <a:r>
              <a:rPr lang="ru-RU" sz="1200" dirty="0">
                <a:solidFill>
                  <a:srgbClr val="1A1433"/>
                </a:solidFill>
              </a:rPr>
              <a:t>Мастер пропал — спросить не с кого</a:t>
            </a:r>
          </a:p>
          <a:p>
            <a:pPr algn="l" marL="171450" indent="-171450">
              <a:spcAft>
                <a:spcPts val="300"/>
              </a:spcAft>
              <a:buClr>
                <a:srgbClr val="C25E00"/>
              </a:buClr>
              <a:buFont typeface="Arial"/>
              <a:buChar char="–"/>
            </a:pPr>
            <a:r>
              <a:rPr lang="ru-RU" sz="1200" dirty="0">
                <a:solidFill>
                  <a:srgbClr val="1A1433"/>
                </a:solidFill>
              </a:rPr>
              <a:t>Без договора и чеков</a:t>
            </a:r>
          </a:p>
        </p:txBody>
      </p:sp>
      <p:sp>
        <p:nvSpPr>
          <p:cNvPr id="64" name="Альтернатива 3"/>
          <p:cNvSpPr/>
          <p:nvPr/>
        </p:nvSpPr>
        <p:spPr>
          <a:xfrm>
            <a:off x="5041270" y="1280160"/>
            <a:ext cx="2109155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25400" dir="5400000" algn="bl" rotWithShape="0">
              <a:srgbClr val="1A1433">
                <a:alpha val="8000"/>
              </a:srgbClr>
            </a:outerShdw>
          </a:effectLst>
        </p:spPr>
      </p:sp>
      <p:sp>
        <p:nvSpPr>
          <p:cNvPr id="65" name="Альтернатива 3: текст"/>
          <p:cNvSpPr txBox="1"/>
          <p:nvPr/>
        </p:nvSpPr>
        <p:spPr>
          <a:xfrm>
            <a:off x="5205862" y="1463040"/>
            <a:ext cx="1779971" cy="32461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 marL="0" indent="0">
              <a:buNone/>
            </a:pPr>
            <a:r>
              <a:rPr lang="ru-RU" sz="1500" b="1" dirty="0">
                <a:solidFill>
                  <a:srgbClr val="24164F"/>
                </a:solidFill>
              </a:rPr>
              <a:t>Площадки услуг</a:t>
            </a:r>
          </a:p>
          <a:p>
            <a:pPr algn="l" marL="0" indent="0">
              <a:spcAft>
                <a:spcPts val="800"/>
              </a:spcAft>
              <a:buNone/>
            </a:pPr>
            <a:r>
              <a:rPr lang="ru-RU" sz="1100" dirty="0">
                <a:solidFill>
                  <a:srgbClr val="6B7385"/>
                </a:solidFill>
              </a:rPr>
              <a:t>Onliner Услуги</a:t>
            </a:r>
          </a:p>
          <a:p>
            <a:pPr algn="l" marL="0" indent="0">
              <a:spcAft>
                <a:spcPts val="300"/>
              </a:spcAft>
              <a:buNone/>
            </a:pPr>
            <a:r>
              <a:rPr lang="ru-RU" sz="1050" b="1" dirty="0">
                <a:solidFill>
                  <a:srgbClr val="6B7385"/>
                </a:solidFill>
              </a:rPr>
              <a:t>Сильные стороны</a:t>
            </a:r>
          </a:p>
          <a:p>
            <a:pPr algn="l" marL="171450" indent="-171450">
              <a:spcAft>
                <a:spcPts val="300"/>
              </a:spcAft>
              <a:buClr>
                <a:srgbClr val="005DD6"/>
              </a:buClr>
              <a:buFont typeface="Arial"/>
              <a:buChar char="+"/>
            </a:pPr>
            <a:r>
              <a:rPr lang="ru-RU" sz="1200" dirty="0">
                <a:solidFill>
                  <a:srgbClr val="1A1433"/>
                </a:solidFill>
              </a:rPr>
              <a:t>Отзывы и рейтинги</a:t>
            </a:r>
          </a:p>
          <a:p>
            <a:pPr algn="l" marL="171450" indent="-171450">
              <a:spcAft>
                <a:spcPts val="300"/>
              </a:spcAft>
              <a:buClr>
                <a:srgbClr val="005DD6"/>
              </a:buClr>
              <a:buFont typeface="Arial"/>
              <a:buChar char="+"/>
            </a:pPr>
            <a:r>
              <a:rPr lang="ru-RU" sz="1200" dirty="0">
                <a:solidFill>
                  <a:srgbClr val="1A1433"/>
                </a:solidFill>
              </a:rPr>
              <a:t>Легко сравнить предложения</a:t>
            </a:r>
          </a:p>
          <a:p>
            <a:pPr algn="l" marL="0" indent="0">
              <a:spcBef>
                <a:spcPts val="800"/>
              </a:spcBef>
              <a:spcAft>
                <a:spcPts val="300"/>
              </a:spcAft>
              <a:buNone/>
            </a:pPr>
            <a:r>
              <a:rPr lang="ru-RU" sz="1050" b="1" dirty="0">
                <a:solidFill>
                  <a:srgbClr val="6B7385"/>
                </a:solidFill>
              </a:rPr>
              <a:t>Слабые стороны</a:t>
            </a:r>
          </a:p>
          <a:p>
            <a:pPr algn="l" marL="171450" indent="-171450">
              <a:spcAft>
                <a:spcPts val="300"/>
              </a:spcAft>
              <a:buClr>
                <a:srgbClr val="C25E00"/>
              </a:buClr>
              <a:buFont typeface="Arial"/>
              <a:buChar char="–"/>
            </a:pPr>
            <a:r>
              <a:rPr lang="ru-RU" sz="1200" dirty="0">
                <a:solidFill>
                  <a:srgbClr val="1A1433"/>
                </a:solidFill>
              </a:rPr>
              <a:t>Договор с мастером — напрямую</a:t>
            </a:r>
          </a:p>
          <a:p>
            <a:pPr algn="l" marL="171450" indent="-171450">
              <a:spcAft>
                <a:spcPts val="300"/>
              </a:spcAft>
              <a:buClr>
                <a:srgbClr val="C25E00"/>
              </a:buClr>
              <a:buFont typeface="Arial"/>
              <a:buChar char="–"/>
            </a:pPr>
            <a:r>
              <a:rPr lang="ru-RU" sz="1200" dirty="0">
                <a:solidFill>
                  <a:srgbClr val="1A1433"/>
                </a:solidFill>
              </a:rPr>
              <a:t>Материалы — отдельно, в другом месте</a:t>
            </a:r>
          </a:p>
        </p:txBody>
      </p:sp>
      <p:sp>
        <p:nvSpPr>
          <p:cNvPr id="66" name="Альтернатива 4"/>
          <p:cNvSpPr/>
          <p:nvPr/>
        </p:nvSpPr>
        <p:spPr>
          <a:xfrm>
            <a:off x="7287585" y="1280160"/>
            <a:ext cx="2109155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25400" dir="5400000" algn="bl" rotWithShape="0">
              <a:srgbClr val="1A1433">
                <a:alpha val="8000"/>
              </a:srgbClr>
            </a:outerShdw>
          </a:effectLst>
        </p:spPr>
      </p:sp>
      <p:sp>
        <p:nvSpPr>
          <p:cNvPr id="67" name="Альтернатива 4: текст"/>
          <p:cNvSpPr txBox="1"/>
          <p:nvPr/>
        </p:nvSpPr>
        <p:spPr>
          <a:xfrm>
            <a:off x="7452177" y="1463040"/>
            <a:ext cx="1779971" cy="32461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 marL="0" indent="0">
              <a:buNone/>
            </a:pPr>
            <a:r>
              <a:rPr lang="ru-RU" sz="1500" b="1" dirty="0">
                <a:solidFill>
                  <a:srgbClr val="24164F"/>
                </a:solidFill>
              </a:rPr>
              <a:t>Услуги ОМА сейчас</a:t>
            </a:r>
          </a:p>
          <a:p>
            <a:pPr algn="l" marL="0" indent="0">
              <a:spcAft>
                <a:spcPts val="800"/>
              </a:spcAft>
              <a:buNone/>
            </a:pPr>
            <a:r>
              <a:rPr lang="ru-RU" sz="1100" dirty="0">
                <a:solidFill>
                  <a:srgbClr val="6B7385"/>
                </a:solidFill>
              </a:rPr>
              <a:t>мастера-партнёры на oma.by</a:t>
            </a:r>
          </a:p>
          <a:p>
            <a:pPr algn="l" marL="0" indent="0">
              <a:spcAft>
                <a:spcPts val="300"/>
              </a:spcAft>
              <a:buNone/>
            </a:pPr>
            <a:r>
              <a:rPr lang="ru-RU" sz="1050" b="1" dirty="0">
                <a:solidFill>
                  <a:srgbClr val="6B7385"/>
                </a:solidFill>
              </a:rPr>
              <a:t>Сильные стороны</a:t>
            </a:r>
          </a:p>
          <a:p>
            <a:pPr algn="l" marL="171450" indent="-171450">
              <a:spcAft>
                <a:spcPts val="300"/>
              </a:spcAft>
              <a:buClr>
                <a:srgbClr val="005DD6"/>
              </a:buClr>
              <a:buFont typeface="Arial"/>
              <a:buChar char="+"/>
            </a:pPr>
            <a:r>
              <a:rPr lang="ru-RU" sz="1200" dirty="0">
                <a:solidFill>
                  <a:srgbClr val="1A1433"/>
                </a:solidFill>
              </a:rPr>
              <a:t>Бренд ОМА и проверенные партнёры</a:t>
            </a:r>
          </a:p>
          <a:p>
            <a:pPr algn="l" marL="171450" indent="-171450">
              <a:spcAft>
                <a:spcPts val="300"/>
              </a:spcAft>
              <a:buClr>
                <a:srgbClr val="005DD6"/>
              </a:buClr>
              <a:buFont typeface="Arial"/>
              <a:buChar char="+"/>
            </a:pPr>
            <a:r>
              <a:rPr lang="ru-RU" sz="1200" dirty="0">
                <a:solidFill>
                  <a:srgbClr val="1A1433"/>
                </a:solidFill>
              </a:rPr>
              <a:t>Рядом с покупкой товара</a:t>
            </a:r>
          </a:p>
          <a:p>
            <a:pPr algn="l" marL="0" indent="0">
              <a:spcBef>
                <a:spcPts val="800"/>
              </a:spcBef>
              <a:spcAft>
                <a:spcPts val="300"/>
              </a:spcAft>
              <a:buNone/>
            </a:pPr>
            <a:r>
              <a:rPr lang="ru-RU" sz="1050" b="1" dirty="0">
                <a:solidFill>
                  <a:srgbClr val="6B7385"/>
                </a:solidFill>
              </a:rPr>
              <a:t>Слабые стороны</a:t>
            </a:r>
          </a:p>
          <a:p>
            <a:pPr algn="l" marL="171450" indent="-171450">
              <a:spcAft>
                <a:spcPts val="300"/>
              </a:spcAft>
              <a:buClr>
                <a:srgbClr val="C25E00"/>
              </a:buClr>
              <a:buFont typeface="Arial"/>
              <a:buChar char="–"/>
            </a:pPr>
            <a:r>
              <a:rPr lang="ru-RU" sz="1200" dirty="0">
                <a:solidFill>
                  <a:srgbClr val="1A1433"/>
                </a:solidFill>
              </a:rPr>
              <a:t>Товары и работы — отдельные заказы</a:t>
            </a:r>
          </a:p>
          <a:p>
            <a:pPr algn="l" marL="171450" indent="-171450">
              <a:spcAft>
                <a:spcPts val="300"/>
              </a:spcAft>
              <a:buClr>
                <a:srgbClr val="C25E00"/>
              </a:buClr>
              <a:buFont typeface="Arial"/>
              <a:buChar char="–"/>
            </a:pPr>
            <a:r>
              <a:rPr lang="ru-RU" sz="1200" dirty="0">
                <a:solidFill>
                  <a:srgbClr val="1A1433"/>
                </a:solidFill>
              </a:rPr>
              <a:t>Без поэтапной приёмки в приложении</a:t>
            </a:r>
          </a:p>
        </p:txBody>
      </p:sp>
      <p:sp>
        <p:nvSpPr>
          <p:cNvPr id="68" name="Альтернатива 5"/>
          <p:cNvSpPr/>
          <p:nvPr/>
        </p:nvSpPr>
        <p:spPr>
          <a:xfrm>
            <a:off x="9533900" y="1280160"/>
            <a:ext cx="2109155" cy="3566160"/>
          </a:xfrm>
          <a:prstGeom prst="roundRect">
            <a:avLst>
              <a:gd name="adj" fmla="val 5000"/>
            </a:avLst>
          </a:prstGeom>
          <a:solidFill>
            <a:srgbClr val="1B1480"/>
          </a:solidFill>
          <a:ln>
            <a:noFill/>
          </a:ln>
          <a:effectLst>
            <a:outerShdw blurRad="101600" dist="25400" dir="5400000" algn="bl" rotWithShape="0">
              <a:srgbClr val="1A1433">
                <a:alpha val="8000"/>
              </a:srgbClr>
            </a:outerShdw>
          </a:effectLst>
        </p:spPr>
      </p:sp>
      <p:sp>
        <p:nvSpPr>
          <p:cNvPr id="69" name="Альтернатива 5: текст"/>
          <p:cNvSpPr txBox="1"/>
          <p:nvPr/>
        </p:nvSpPr>
        <p:spPr>
          <a:xfrm>
            <a:off x="9698492" y="1463040"/>
            <a:ext cx="1779971" cy="32461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 marL="0" indent="0">
              <a:buNone/>
            </a:pPr>
            <a:r>
              <a:rPr lang="ru-RU" sz="1500" b="1" dirty="0">
                <a:solidFill>
                  <a:srgbClr val="FFFFFF"/>
                </a:solidFill>
              </a:rPr>
              <a:t>ОМА для дома</a:t>
            </a:r>
          </a:p>
          <a:p>
            <a:pPr algn="l" marL="0" indent="0">
              <a:spcAft>
                <a:spcPts val="800"/>
              </a:spcAft>
              <a:buNone/>
            </a:pPr>
            <a:r>
              <a:rPr lang="ru-RU" sz="1100" dirty="0">
                <a:solidFill>
                  <a:srgbClr val="C9BFF0"/>
                </a:solidFill>
              </a:rPr>
              <a:t>наше решение</a:t>
            </a:r>
          </a:p>
          <a:p>
            <a:pPr algn="l" marL="0" indent="0">
              <a:spcAft>
                <a:spcPts val="300"/>
              </a:spcAft>
              <a:buNone/>
            </a:pPr>
            <a:r>
              <a:rPr lang="ru-RU" sz="1050" b="1" dirty="0">
                <a:solidFill>
                  <a:srgbClr val="FF9A3D"/>
                </a:solidFill>
              </a:rPr>
              <a:t>Сильные стороны</a:t>
            </a:r>
          </a:p>
          <a:p>
            <a:pPr algn="l" marL="171450" indent="-171450">
              <a:spcAft>
                <a:spcPts val="300"/>
              </a:spcAft>
              <a:buClr>
                <a:srgbClr val="FF9A3D"/>
              </a:buClr>
              <a:buFont typeface="Arial"/>
              <a:buChar char="+"/>
            </a:pPr>
            <a:r>
              <a:rPr lang="ru-RU" sz="1200" dirty="0">
                <a:solidFill>
                  <a:srgbClr val="FFFFFF"/>
                </a:solidFill>
              </a:rPr>
              <a:t>Смета из товаров ОМА, материалы к дате работ</a:t>
            </a:r>
          </a:p>
          <a:p>
            <a:pPr algn="l" marL="171450" indent="-171450">
              <a:spcAft>
                <a:spcPts val="300"/>
              </a:spcAft>
              <a:buClr>
                <a:srgbClr val="FF9A3D"/>
              </a:buClr>
              <a:buFont typeface="Arial"/>
              <a:buChar char="+"/>
            </a:pPr>
            <a:r>
              <a:rPr lang="ru-RU" sz="1200" dirty="0">
                <a:solidFill>
                  <a:srgbClr val="FFFFFF"/>
                </a:solidFill>
              </a:rPr>
              <a:t>Один ответственный, оплата этапа после приёмки</a:t>
            </a:r>
          </a:p>
          <a:p>
            <a:pPr algn="l" marL="0" indent="0">
              <a:spcBef>
                <a:spcPts val="800"/>
              </a:spcBef>
              <a:spcAft>
                <a:spcPts val="300"/>
              </a:spcAft>
              <a:buNone/>
            </a:pPr>
            <a:r>
              <a:rPr lang="ru-RU" sz="1050" b="1" dirty="0">
                <a:solidFill>
                  <a:srgbClr val="FF9A3D"/>
                </a:solidFill>
              </a:rPr>
              <a:t>Слабые стороны</a:t>
            </a:r>
          </a:p>
          <a:p>
            <a:pPr algn="l" marL="171450" indent="-171450">
              <a:spcAft>
                <a:spcPts val="300"/>
              </a:spcAft>
              <a:buClr>
                <a:srgbClr val="C9BFF0"/>
              </a:buClr>
              <a:buFont typeface="Arial"/>
              <a:buChar char="–"/>
            </a:pPr>
            <a:r>
              <a:rPr lang="ru-RU" sz="1200" dirty="0">
                <a:solidFill>
                  <a:srgbClr val="FFFFFF"/>
                </a:solidFill>
              </a:rPr>
              <a:t>Пилот: пока Минск и санузлы</a:t>
            </a:r>
          </a:p>
          <a:p>
            <a:pPr algn="l" marL="171450" indent="-171450">
              <a:spcAft>
                <a:spcPts val="300"/>
              </a:spcAft>
              <a:buClr>
                <a:srgbClr val="C9BFF0"/>
              </a:buClr>
              <a:buFont typeface="Arial"/>
              <a:buChar char="–"/>
            </a:pPr>
            <a:r>
              <a:rPr lang="ru-RU" sz="1200" dirty="0">
                <a:solidFill>
                  <a:srgbClr val="FFFFFF"/>
                </a:solidFill>
              </a:rPr>
              <a:t>Цена работ на уровне рынка, не ниже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Путь клиента и путь мастера</a:t>
            </a:r>
            <a:endParaRPr lang="en-US" sz="3200" dirty="0"/>
          </a:p>
        </p:txBody>
      </p:sp>
      <p:pic>
        <p:nvPicPr>
          <p:cNvPr id="3" name="Клиент: иконка" descr="/tmp/claude-0/-home-user-hackatonoma/e77f010d-b8c6-588a-a375-3aa4548717b1/scratchpad/deckgen/assets/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325880"/>
            <a:ext cx="1005840" cy="1005840"/>
          </a:xfrm>
          <a:prstGeom prst="rect">
            <a:avLst/>
          </a:prstGeom>
        </p:spPr>
      </p:pic>
      <p:sp>
        <p:nvSpPr>
          <p:cNvPr id="4" name="Клиент: подпись"/>
          <p:cNvSpPr txBox="1"/>
          <p:nvPr/>
        </p:nvSpPr>
        <p:spPr>
          <a:xfrm>
            <a:off x="548640" y="2377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Частное лицо</a:t>
            </a:r>
            <a:endParaRPr lang="en-US" sz="1400" dirty="0"/>
          </a:p>
        </p:txBody>
      </p:sp>
      <p:sp>
        <p:nvSpPr>
          <p:cNvPr id="5" name="Клиент: шаг 1"/>
          <p:cNvSpPr/>
          <p:nvPr/>
        </p:nvSpPr>
        <p:spPr>
          <a:xfrm>
            <a:off x="2148840" y="1280160"/>
            <a:ext cx="1783080" cy="150876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1A1433">
                <a:alpha val="8000"/>
              </a:srgbClr>
            </a:outerShdw>
          </a:effectLst>
        </p:spPr>
      </p:sp>
      <p:sp>
        <p:nvSpPr>
          <p:cNvPr id="6" name="Клиент: номер 1"/>
          <p:cNvSpPr/>
          <p:nvPr/>
        </p:nvSpPr>
        <p:spPr>
          <a:xfrm>
            <a:off x="2331720" y="1444752"/>
            <a:ext cx="384048" cy="384048"/>
          </a:xfrm>
          <a:prstGeom prst="ellipse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7" name="Клиент: цифра 1"/>
          <p:cNvSpPr txBox="1"/>
          <p:nvPr/>
        </p:nvSpPr>
        <p:spPr>
          <a:xfrm>
            <a:off x="2331720" y="1444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Клиент: этап 1"/>
          <p:cNvSpPr txBox="1"/>
          <p:nvPr/>
        </p:nvSpPr>
        <p:spPr>
          <a:xfrm>
            <a:off x="2807208" y="14630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Задача</a:t>
            </a:r>
            <a:endParaRPr lang="en-US" sz="1400" dirty="0"/>
          </a:p>
        </p:txBody>
      </p:sp>
      <p:sp>
        <p:nvSpPr>
          <p:cNvPr id="9" name="Клиент: описание 1"/>
          <p:cNvSpPr txBox="1"/>
          <p:nvPr/>
        </p:nvSpPr>
        <p:spPr>
          <a:xfrm>
            <a:off x="2331720" y="193852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Выбирает товар или раздел «Стройка»</a:t>
            </a:r>
            <a:endParaRPr lang="en-US" sz="1200" dirty="0"/>
          </a:p>
        </p:txBody>
      </p:sp>
      <p:sp>
        <p:nvSpPr>
          <p:cNvPr id="10" name="Клиент: шаг 2"/>
          <p:cNvSpPr/>
          <p:nvPr/>
        </p:nvSpPr>
        <p:spPr>
          <a:xfrm>
            <a:off x="4069080" y="1280160"/>
            <a:ext cx="1783080" cy="150876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1A1433">
                <a:alpha val="8000"/>
              </a:srgbClr>
            </a:outerShdw>
          </a:effectLst>
        </p:spPr>
      </p:sp>
      <p:sp>
        <p:nvSpPr>
          <p:cNvPr id="11" name="Клиент: номер 2"/>
          <p:cNvSpPr/>
          <p:nvPr/>
        </p:nvSpPr>
        <p:spPr>
          <a:xfrm>
            <a:off x="4251960" y="1444752"/>
            <a:ext cx="384048" cy="384048"/>
          </a:xfrm>
          <a:prstGeom prst="ellipse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12" name="Клиент: цифра 2"/>
          <p:cNvSpPr txBox="1"/>
          <p:nvPr/>
        </p:nvSpPr>
        <p:spPr>
          <a:xfrm>
            <a:off x="4251960" y="1444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Клиент: этап 2"/>
          <p:cNvSpPr txBox="1"/>
          <p:nvPr/>
        </p:nvSpPr>
        <p:spPr>
          <a:xfrm>
            <a:off x="4727448" y="14630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Решение</a:t>
            </a:r>
            <a:endParaRPr lang="en-US" sz="1400" dirty="0"/>
          </a:p>
        </p:txBody>
      </p:sp>
      <p:sp>
        <p:nvSpPr>
          <p:cNvPr id="14" name="Клиент: описание 2"/>
          <p:cNvSpPr txBox="1"/>
          <p:nvPr/>
        </p:nvSpPr>
        <p:spPr>
          <a:xfrm>
            <a:off x="4251960" y="193852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Смета или консультант по бюджету</a:t>
            </a:r>
            <a:endParaRPr lang="en-US" sz="1200" dirty="0"/>
          </a:p>
        </p:txBody>
      </p:sp>
      <p:sp>
        <p:nvSpPr>
          <p:cNvPr id="15" name="Клиент: шаг 3"/>
          <p:cNvSpPr/>
          <p:nvPr/>
        </p:nvSpPr>
        <p:spPr>
          <a:xfrm>
            <a:off x="5989320" y="1280160"/>
            <a:ext cx="1783080" cy="150876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1A1433">
                <a:alpha val="8000"/>
              </a:srgbClr>
            </a:outerShdw>
          </a:effectLst>
        </p:spPr>
      </p:sp>
      <p:sp>
        <p:nvSpPr>
          <p:cNvPr id="16" name="Клиент: номер 3"/>
          <p:cNvSpPr/>
          <p:nvPr/>
        </p:nvSpPr>
        <p:spPr>
          <a:xfrm>
            <a:off x="6172200" y="1444752"/>
            <a:ext cx="384048" cy="384048"/>
          </a:xfrm>
          <a:prstGeom prst="ellipse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17" name="Клиент: цифра 3"/>
          <p:cNvSpPr txBox="1"/>
          <p:nvPr/>
        </p:nvSpPr>
        <p:spPr>
          <a:xfrm>
            <a:off x="6172200" y="1444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Клиент: этап 3"/>
          <p:cNvSpPr txBox="1"/>
          <p:nvPr/>
        </p:nvSpPr>
        <p:spPr>
          <a:xfrm>
            <a:off x="6647688" y="14630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Подбор</a:t>
            </a:r>
            <a:endParaRPr lang="en-US" sz="1400" dirty="0"/>
          </a:p>
        </p:txBody>
      </p:sp>
      <p:sp>
        <p:nvSpPr>
          <p:cNvPr id="19" name="Клиент: описание 3"/>
          <p:cNvSpPr txBox="1"/>
          <p:nvPr/>
        </p:nvSpPr>
        <p:spPr>
          <a:xfrm>
            <a:off x="6172200" y="193852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Мастер или бригада с фильтрами</a:t>
            </a:r>
            <a:endParaRPr lang="en-US" sz="1200" dirty="0"/>
          </a:p>
        </p:txBody>
      </p:sp>
      <p:sp>
        <p:nvSpPr>
          <p:cNvPr id="20" name="Клиент: шаг 4"/>
          <p:cNvSpPr/>
          <p:nvPr/>
        </p:nvSpPr>
        <p:spPr>
          <a:xfrm>
            <a:off x="7909560" y="1280160"/>
            <a:ext cx="1783080" cy="150876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1A1433">
                <a:alpha val="8000"/>
              </a:srgbClr>
            </a:outerShdw>
          </a:effectLst>
        </p:spPr>
      </p:sp>
      <p:sp>
        <p:nvSpPr>
          <p:cNvPr id="21" name="Клиент: номер 4"/>
          <p:cNvSpPr/>
          <p:nvPr/>
        </p:nvSpPr>
        <p:spPr>
          <a:xfrm>
            <a:off x="8092440" y="1444752"/>
            <a:ext cx="384048" cy="384048"/>
          </a:xfrm>
          <a:prstGeom prst="ellipse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22" name="Клиент: цифра 4"/>
          <p:cNvSpPr txBox="1"/>
          <p:nvPr/>
        </p:nvSpPr>
        <p:spPr>
          <a:xfrm>
            <a:off x="8092440" y="1444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Клиент: этап 4"/>
          <p:cNvSpPr txBox="1"/>
          <p:nvPr/>
        </p:nvSpPr>
        <p:spPr>
          <a:xfrm>
            <a:off x="8567928" y="14630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Работа</a:t>
            </a:r>
            <a:endParaRPr lang="en-US" sz="1400" dirty="0"/>
          </a:p>
        </p:txBody>
      </p:sp>
      <p:sp>
        <p:nvSpPr>
          <p:cNvPr id="24" name="Клиент: описание 4"/>
          <p:cNvSpPr txBox="1"/>
          <p:nvPr/>
        </p:nvSpPr>
        <p:spPr>
          <a:xfrm>
            <a:off x="8092440" y="193852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Материалы к дате, фото этапов</a:t>
            </a:r>
            <a:endParaRPr lang="en-US" sz="1200" dirty="0"/>
          </a:p>
        </p:txBody>
      </p:sp>
      <p:sp>
        <p:nvSpPr>
          <p:cNvPr id="25" name="Клиент: шаг 5"/>
          <p:cNvSpPr/>
          <p:nvPr/>
        </p:nvSpPr>
        <p:spPr>
          <a:xfrm>
            <a:off x="9829800" y="1280160"/>
            <a:ext cx="1783080" cy="150876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1A1433">
                <a:alpha val="8000"/>
              </a:srgbClr>
            </a:outerShdw>
          </a:effectLst>
        </p:spPr>
      </p:sp>
      <p:sp>
        <p:nvSpPr>
          <p:cNvPr id="26" name="Клиент: номер 5"/>
          <p:cNvSpPr/>
          <p:nvPr/>
        </p:nvSpPr>
        <p:spPr>
          <a:xfrm>
            <a:off x="10012680" y="1444752"/>
            <a:ext cx="384048" cy="384048"/>
          </a:xfrm>
          <a:prstGeom prst="ellipse">
            <a:avLst/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</p:spPr>
      </p:sp>
      <p:sp>
        <p:nvSpPr>
          <p:cNvPr id="27" name="Клиент: цифра 5"/>
          <p:cNvSpPr txBox="1"/>
          <p:nvPr/>
        </p:nvSpPr>
        <p:spPr>
          <a:xfrm>
            <a:off x="10012680" y="1444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8" name="Клиент: этап 5"/>
          <p:cNvSpPr txBox="1"/>
          <p:nvPr/>
        </p:nvSpPr>
        <p:spPr>
          <a:xfrm>
            <a:off x="10488168" y="14630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Приёмка</a:t>
            </a:r>
            <a:endParaRPr lang="en-US" sz="1400" dirty="0"/>
          </a:p>
        </p:txBody>
      </p:sp>
      <p:sp>
        <p:nvSpPr>
          <p:cNvPr id="29" name="Клиент: описание 5"/>
          <p:cNvSpPr txBox="1"/>
          <p:nvPr/>
        </p:nvSpPr>
        <p:spPr>
          <a:xfrm>
            <a:off x="10012680" y="193852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Оплата этапа, гарантия, отзыв</a:t>
            </a:r>
            <a:endParaRPr lang="en-US" sz="1200" dirty="0"/>
          </a:p>
        </p:txBody>
      </p:sp>
      <p:pic>
        <p:nvPicPr>
          <p:cNvPr id="30" name="Мастер: иконка" descr="/tmp/claude-0/-home-user-hackatonoma/e77f010d-b8c6-588a-a375-3aa4548717b1/scratchpad/deckgen/assets/briefc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154680"/>
            <a:ext cx="1005840" cy="1005840"/>
          </a:xfrm>
          <a:prstGeom prst="rect">
            <a:avLst/>
          </a:prstGeom>
        </p:spPr>
      </p:pic>
      <p:sp>
        <p:nvSpPr>
          <p:cNvPr id="31" name="Мастер: подпись"/>
          <p:cNvSpPr txBox="1"/>
          <p:nvPr/>
        </p:nvSpPr>
        <p:spPr>
          <a:xfrm>
            <a:off x="548640" y="4206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Бизнес</a:t>
            </a:r>
            <a:endParaRPr lang="en-US" sz="1400" dirty="0"/>
          </a:p>
        </p:txBody>
      </p:sp>
      <p:sp>
        <p:nvSpPr>
          <p:cNvPr id="32" name="Мастер: шаг 1"/>
          <p:cNvSpPr/>
          <p:nvPr/>
        </p:nvSpPr>
        <p:spPr>
          <a:xfrm>
            <a:off x="2148840" y="3108960"/>
            <a:ext cx="1783080" cy="150876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1A1433">
                <a:alpha val="8000"/>
              </a:srgbClr>
            </a:outerShdw>
          </a:effectLst>
        </p:spPr>
      </p:sp>
      <p:sp>
        <p:nvSpPr>
          <p:cNvPr id="33" name="Мастер: номер 1"/>
          <p:cNvSpPr/>
          <p:nvPr/>
        </p:nvSpPr>
        <p:spPr>
          <a:xfrm>
            <a:off x="2331720" y="3273552"/>
            <a:ext cx="384048" cy="384048"/>
          </a:xfrm>
          <a:prstGeom prst="ellipse">
            <a:avLst/>
          </a:prstGeom>
          <a:solidFill>
            <a:srgbClr val="1B1480"/>
          </a:solidFill>
          <a:ln w="12700">
            <a:solidFill>
              <a:srgbClr val="1B1480"/>
            </a:solidFill>
            <a:prstDash val="solid"/>
          </a:ln>
        </p:spPr>
      </p:sp>
      <p:sp>
        <p:nvSpPr>
          <p:cNvPr id="34" name="Мастер: цифра 1"/>
          <p:cNvSpPr txBox="1"/>
          <p:nvPr/>
        </p:nvSpPr>
        <p:spPr>
          <a:xfrm>
            <a:off x="2331720" y="3273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35" name="Мастер: этап 1"/>
          <p:cNvSpPr txBox="1"/>
          <p:nvPr/>
        </p:nvSpPr>
        <p:spPr>
          <a:xfrm>
            <a:off x="2807208" y="32918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Вход</a:t>
            </a:r>
            <a:endParaRPr lang="en-US" sz="1400" dirty="0"/>
          </a:p>
        </p:txBody>
      </p:sp>
      <p:sp>
        <p:nvSpPr>
          <p:cNvPr id="36" name="Мастер: описание 1"/>
          <p:cNvSpPr txBox="1"/>
          <p:nvPr/>
        </p:nvSpPr>
        <p:spPr>
          <a:xfrm>
            <a:off x="2331720" y="376732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Бизнес: профиль, УНП, допуски</a:t>
            </a:r>
            <a:endParaRPr lang="en-US" sz="1200" dirty="0"/>
          </a:p>
        </p:txBody>
      </p:sp>
      <p:sp>
        <p:nvSpPr>
          <p:cNvPr id="37" name="Мастер: шаг 2"/>
          <p:cNvSpPr/>
          <p:nvPr/>
        </p:nvSpPr>
        <p:spPr>
          <a:xfrm>
            <a:off x="4069080" y="3108960"/>
            <a:ext cx="1783080" cy="150876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1A1433">
                <a:alpha val="8000"/>
              </a:srgbClr>
            </a:outerShdw>
          </a:effectLst>
        </p:spPr>
      </p:sp>
      <p:sp>
        <p:nvSpPr>
          <p:cNvPr id="38" name="Мастер: номер 2"/>
          <p:cNvSpPr/>
          <p:nvPr/>
        </p:nvSpPr>
        <p:spPr>
          <a:xfrm>
            <a:off x="4251960" y="3273552"/>
            <a:ext cx="384048" cy="384048"/>
          </a:xfrm>
          <a:prstGeom prst="ellipse">
            <a:avLst/>
          </a:prstGeom>
          <a:solidFill>
            <a:srgbClr val="1B1480"/>
          </a:solidFill>
          <a:ln w="12700">
            <a:solidFill>
              <a:srgbClr val="1B1480"/>
            </a:solidFill>
            <a:prstDash val="solid"/>
          </a:ln>
        </p:spPr>
      </p:sp>
      <p:sp>
        <p:nvSpPr>
          <p:cNvPr id="39" name="Мастер: цифра 2"/>
          <p:cNvSpPr txBox="1"/>
          <p:nvPr/>
        </p:nvSpPr>
        <p:spPr>
          <a:xfrm>
            <a:off x="4251960" y="3273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40" name="Мастер: этап 2"/>
          <p:cNvSpPr txBox="1"/>
          <p:nvPr/>
        </p:nvSpPr>
        <p:spPr>
          <a:xfrm>
            <a:off x="4727448" y="32918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Проверка</a:t>
            </a:r>
            <a:endParaRPr lang="en-US" sz="1400" dirty="0"/>
          </a:p>
        </p:txBody>
      </p:sp>
      <p:sp>
        <p:nvSpPr>
          <p:cNvPr id="41" name="Мастер: описание 2"/>
          <p:cNvSpPr txBox="1"/>
          <p:nvPr/>
        </p:nvSpPr>
        <p:spPr>
          <a:xfrm>
            <a:off x="4251960" y="376732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ЕГР, отзывы, договор субподряда</a:t>
            </a:r>
            <a:endParaRPr lang="en-US" sz="1200" dirty="0"/>
          </a:p>
        </p:txBody>
      </p:sp>
      <p:sp>
        <p:nvSpPr>
          <p:cNvPr id="42" name="Мастер: шаг 3"/>
          <p:cNvSpPr/>
          <p:nvPr/>
        </p:nvSpPr>
        <p:spPr>
          <a:xfrm>
            <a:off x="5989320" y="3108960"/>
            <a:ext cx="1783080" cy="150876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1A1433">
                <a:alpha val="8000"/>
              </a:srgbClr>
            </a:outerShdw>
          </a:effectLst>
        </p:spPr>
      </p:sp>
      <p:sp>
        <p:nvSpPr>
          <p:cNvPr id="43" name="Мастер: номер 3"/>
          <p:cNvSpPr/>
          <p:nvPr/>
        </p:nvSpPr>
        <p:spPr>
          <a:xfrm>
            <a:off x="6172200" y="3273552"/>
            <a:ext cx="384048" cy="384048"/>
          </a:xfrm>
          <a:prstGeom prst="ellipse">
            <a:avLst/>
          </a:prstGeom>
          <a:solidFill>
            <a:srgbClr val="1B1480"/>
          </a:solidFill>
          <a:ln w="12700">
            <a:solidFill>
              <a:srgbClr val="1B1480"/>
            </a:solidFill>
            <a:prstDash val="solid"/>
          </a:ln>
        </p:spPr>
      </p:sp>
      <p:sp>
        <p:nvSpPr>
          <p:cNvPr id="44" name="Мастер: цифра 3"/>
          <p:cNvSpPr txBox="1"/>
          <p:nvPr/>
        </p:nvSpPr>
        <p:spPr>
          <a:xfrm>
            <a:off x="6172200" y="3273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45" name="Мастер: этап 3"/>
          <p:cNvSpPr txBox="1"/>
          <p:nvPr/>
        </p:nvSpPr>
        <p:spPr>
          <a:xfrm>
            <a:off x="6647688" y="32918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Заявка</a:t>
            </a:r>
            <a:endParaRPr lang="en-US" sz="1400" dirty="0"/>
          </a:p>
        </p:txBody>
      </p:sp>
      <p:sp>
        <p:nvSpPr>
          <p:cNvPr id="46" name="Мастер: описание 3"/>
          <p:cNvSpPr txBox="1"/>
          <p:nvPr/>
        </p:nvSpPr>
        <p:spPr>
          <a:xfrm>
            <a:off x="6172200" y="376732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Принимает заказ от ОМА</a:t>
            </a:r>
            <a:endParaRPr lang="en-US" sz="1200" dirty="0"/>
          </a:p>
        </p:txBody>
      </p:sp>
      <p:sp>
        <p:nvSpPr>
          <p:cNvPr id="47" name="Мастер: шаг 4"/>
          <p:cNvSpPr/>
          <p:nvPr/>
        </p:nvSpPr>
        <p:spPr>
          <a:xfrm>
            <a:off x="7909560" y="3108960"/>
            <a:ext cx="1783080" cy="150876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1A1433">
                <a:alpha val="8000"/>
              </a:srgbClr>
            </a:outerShdw>
          </a:effectLst>
        </p:spPr>
      </p:sp>
      <p:sp>
        <p:nvSpPr>
          <p:cNvPr id="48" name="Мастер: номер 4"/>
          <p:cNvSpPr/>
          <p:nvPr/>
        </p:nvSpPr>
        <p:spPr>
          <a:xfrm>
            <a:off x="8092440" y="3273552"/>
            <a:ext cx="384048" cy="384048"/>
          </a:xfrm>
          <a:prstGeom prst="ellipse">
            <a:avLst/>
          </a:prstGeom>
          <a:solidFill>
            <a:srgbClr val="1B1480"/>
          </a:solidFill>
          <a:ln w="12700">
            <a:solidFill>
              <a:srgbClr val="1B1480"/>
            </a:solidFill>
            <a:prstDash val="solid"/>
          </a:ln>
        </p:spPr>
      </p:sp>
      <p:sp>
        <p:nvSpPr>
          <p:cNvPr id="49" name="Мастер: цифра 4"/>
          <p:cNvSpPr txBox="1"/>
          <p:nvPr/>
        </p:nvSpPr>
        <p:spPr>
          <a:xfrm>
            <a:off x="8092440" y="3273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50" name="Мастер: этап 4"/>
          <p:cNvSpPr txBox="1"/>
          <p:nvPr/>
        </p:nvSpPr>
        <p:spPr>
          <a:xfrm>
            <a:off x="8567928" y="32918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Закупка</a:t>
            </a:r>
            <a:endParaRPr lang="en-US" sz="1400" dirty="0"/>
          </a:p>
        </p:txBody>
      </p:sp>
      <p:sp>
        <p:nvSpPr>
          <p:cNvPr id="51" name="Мастер: описание 4"/>
          <p:cNvSpPr txBox="1"/>
          <p:nvPr/>
        </p:nvSpPr>
        <p:spPr>
          <a:xfrm>
            <a:off x="8092440" y="376732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Материалы по ценам OMA PRO</a:t>
            </a:r>
            <a:endParaRPr lang="en-US" sz="1200" dirty="0"/>
          </a:p>
        </p:txBody>
      </p:sp>
      <p:sp>
        <p:nvSpPr>
          <p:cNvPr id="52" name="Мастер: шаг 5"/>
          <p:cNvSpPr/>
          <p:nvPr/>
        </p:nvSpPr>
        <p:spPr>
          <a:xfrm>
            <a:off x="9829800" y="3108960"/>
            <a:ext cx="1783080" cy="150876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1A1433">
                <a:alpha val="8000"/>
              </a:srgbClr>
            </a:outerShdw>
          </a:effectLst>
        </p:spPr>
      </p:sp>
      <p:sp>
        <p:nvSpPr>
          <p:cNvPr id="53" name="Мастер: номер 5"/>
          <p:cNvSpPr/>
          <p:nvPr/>
        </p:nvSpPr>
        <p:spPr>
          <a:xfrm>
            <a:off x="10012680" y="3273552"/>
            <a:ext cx="384048" cy="384048"/>
          </a:xfrm>
          <a:prstGeom prst="ellipse">
            <a:avLst/>
          </a:prstGeom>
          <a:solidFill>
            <a:srgbClr val="1B1480"/>
          </a:solidFill>
          <a:ln w="12700">
            <a:solidFill>
              <a:srgbClr val="1B1480"/>
            </a:solidFill>
            <a:prstDash val="solid"/>
          </a:ln>
        </p:spPr>
      </p:sp>
      <p:sp>
        <p:nvSpPr>
          <p:cNvPr id="54" name="Мастер: цифра 5"/>
          <p:cNvSpPr txBox="1"/>
          <p:nvPr/>
        </p:nvSpPr>
        <p:spPr>
          <a:xfrm>
            <a:off x="10012680" y="3273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55" name="Мастер: этап 5"/>
          <p:cNvSpPr txBox="1"/>
          <p:nvPr/>
        </p:nvSpPr>
        <p:spPr>
          <a:xfrm>
            <a:off x="10488168" y="32918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Выплата</a:t>
            </a:r>
            <a:endParaRPr lang="en-US" sz="1400" dirty="0"/>
          </a:p>
        </p:txBody>
      </p:sp>
      <p:sp>
        <p:nvSpPr>
          <p:cNvPr id="56" name="Мастер: описание 5"/>
          <p:cNvSpPr txBox="1"/>
          <p:nvPr/>
        </p:nvSpPr>
        <p:spPr>
          <a:xfrm>
            <a:off x="10012680" y="376732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После приёмки клиентом</a:t>
            </a:r>
            <a:endParaRPr lang="en-US" sz="1200" dirty="0"/>
          </a:p>
        </p:txBody>
      </p:sp>
      <p:sp>
        <p:nvSpPr>
          <p:cNvPr id="57" name="Возврат в ОМА"/>
          <p:cNvSpPr/>
          <p:nvPr/>
        </p:nvSpPr>
        <p:spPr>
          <a:xfrm>
            <a:off x="548640" y="4937760"/>
            <a:ext cx="11094415" cy="1188720"/>
          </a:xfrm>
          <a:prstGeom prst="roundRect">
            <a:avLst>
              <a:gd name="adj" fmla="val 13846"/>
            </a:avLst>
          </a:prstGeom>
          <a:solidFill>
            <a:srgbClr val="1B1480"/>
          </a:solidFill>
          <a:ln w="12700">
            <a:solidFill>
              <a:srgbClr val="24164F"/>
            </a:solidFill>
            <a:prstDash val="solid"/>
          </a:ln>
          <a:effectLst>
            <a:outerShdw blurRad="101600" dist="25400" dir="5400000" algn="bl" rotWithShape="0">
              <a:srgbClr val="1A1433">
                <a:alpha val="8000"/>
              </a:srgbClr>
            </a:outerShdw>
          </a:effectLst>
        </p:spPr>
      </p:sp>
      <p:pic>
        <p:nvPicPr>
          <p:cNvPr id="58" name="Возврат: иконка" descr="/tmp/claude-0/-home-user-hackatonoma/e77f010d-b8c6-588a-a375-3aa4548717b1/scratchpad/deckgen/assets/doc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5074920"/>
            <a:ext cx="914400" cy="914400"/>
          </a:xfrm>
          <a:prstGeom prst="rect">
            <a:avLst/>
          </a:prstGeom>
        </p:spPr>
      </p:pic>
      <p:sp>
        <p:nvSpPr>
          <p:cNvPr id="59" name="Возврат: заголовок"/>
          <p:cNvSpPr txBox="1"/>
          <p:nvPr/>
        </p:nvSpPr>
        <p:spPr>
          <a:xfrm>
            <a:off x="1965960" y="5074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9A3D"/>
                </a:solidFill>
              </a:rPr>
              <a:t>Возврат в ОМА</a:t>
            </a:r>
            <a:endParaRPr lang="en-US" sz="1700" dirty="0"/>
          </a:p>
        </p:txBody>
      </p:sp>
      <p:sp>
        <p:nvSpPr>
          <p:cNvPr id="60" name="Возврат: текст"/>
          <p:cNvSpPr txBox="1"/>
          <p:nvPr/>
        </p:nvSpPr>
        <p:spPr>
          <a:xfrm>
            <a:off x="1965960" y="5468112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Клиента возвращают Паспорт дома, напоминания об уходе, бонусы «Баланс» и «мой мастер» для повторного вызова. Мастера — поток заявок и закупка в одном месте.</a:t>
            </a:r>
            <a:endParaRPr lang="en-US" sz="1300" dirty="0"/>
          </a:p>
        </p:txBody>
      </p:sp>
      <p:sp>
        <p:nvSpPr>
          <p:cNvPr id="6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3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 err="1">
                <a:solidFill>
                  <a:schemeClr val="tx2"/>
                </a:solidFill>
              </a:rPr>
              <a:t>Как</a:t>
            </a:r>
            <a:r>
              <a:rPr lang="en-US" sz="3200" b="1" dirty="0">
                <a:solidFill>
                  <a:schemeClr val="tx2"/>
                </a:solidFill>
              </a:rPr>
              <a:t> </a:t>
            </a:r>
            <a:r>
              <a:rPr lang="ru-RU" sz="3200" b="1" dirty="0">
                <a:solidFill>
                  <a:schemeClr val="tx2"/>
                </a:solidFill>
              </a:rPr>
              <a:t>выглядит </a:t>
            </a:r>
            <a:r>
              <a:rPr lang="en-US" sz="3200" b="1" dirty="0" err="1">
                <a:solidFill>
                  <a:schemeClr val="tx2"/>
                </a:solidFill>
              </a:rPr>
              <a:t>прототип</a:t>
            </a:r>
            <a:r>
              <a:rPr lang="ru-RU" sz="3200" b="1" dirty="0">
                <a:solidFill>
                  <a:schemeClr val="tx2"/>
                </a:solidFill>
              </a:rPr>
              <a:t>:</a:t>
            </a:r>
            <a:endParaRPr lang="en-US" sz="3200" dirty="0"/>
          </a:p>
        </p:txBody>
      </p:sp>
      <p:sp>
        <p:nvSpPr>
          <p:cNvPr id="3" name="Ссылка на прототип"/>
          <p:cNvSpPr txBox="1"/>
          <p:nvPr/>
        </p:nvSpPr>
        <p:spPr>
          <a:xfrm>
            <a:off x="548640" y="10789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2"/>
                </a:solidFill>
              </a:rPr>
              <a:t>kvasiuum.github.io/hackatonoma</a:t>
            </a:r>
            <a:endParaRPr lang="en-US" sz="1300" dirty="0"/>
          </a:p>
        </p:txBody>
      </p:sp>
      <p:pic>
        <p:nvPicPr>
          <p:cNvPr id="4" name="Экран: Регистрация: частное лицо или бизнес" descr="Регистрация: частное лицо или бизнес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1965960" cy="4132333"/>
          </a:xfrm>
          <a:prstGeom prst="rect">
            <a:avLst/>
          </a:prstGeom>
        </p:spPr>
      </p:pic>
      <p:sp>
        <p:nvSpPr>
          <p:cNvPr id="5" name="Подпись: Регистрация: частное лицо или бизнес"/>
          <p:cNvSpPr txBox="1"/>
          <p:nvPr/>
        </p:nvSpPr>
        <p:spPr>
          <a:xfrm>
            <a:off x="502920" y="5641093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Регистрация: частное лицо или бизнес</a:t>
            </a:r>
            <a:endParaRPr lang="en-US" sz="1200" dirty="0"/>
          </a:p>
        </p:txBody>
      </p:sp>
      <p:pic>
        <p:nvPicPr>
          <p:cNvPr id="6" name="Экран: Стройка: категории как на маркетплейсе" descr="Стройка: категории как на маркетплейсе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0754" y="1463040"/>
            <a:ext cx="1965960" cy="4132333"/>
          </a:xfrm>
          <a:prstGeom prst="rect">
            <a:avLst/>
          </a:prstGeom>
        </p:spPr>
      </p:pic>
      <p:sp>
        <p:nvSpPr>
          <p:cNvPr id="7" name="Подпись: Стройка: категории как на маркетплейсе"/>
          <p:cNvSpPr txBox="1"/>
          <p:nvPr/>
        </p:nvSpPr>
        <p:spPr>
          <a:xfrm>
            <a:off x="2785034" y="5641093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Стройка: категории как на маркетплейсе</a:t>
            </a:r>
            <a:endParaRPr lang="en-US" sz="1200" dirty="0"/>
          </a:p>
        </p:txBody>
      </p:sp>
      <p:pic>
        <p:nvPicPr>
          <p:cNvPr id="8" name="Экран: Мастера и бригады с фильтрами" descr="Мастера и бригады с фильтрами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2868" y="1463040"/>
            <a:ext cx="1965960" cy="4132333"/>
          </a:xfrm>
          <a:prstGeom prst="rect">
            <a:avLst/>
          </a:prstGeom>
        </p:spPr>
      </p:pic>
      <p:sp>
        <p:nvSpPr>
          <p:cNvPr id="9" name="Подпись: Мастера и бригады с фильтрами"/>
          <p:cNvSpPr txBox="1"/>
          <p:nvPr/>
        </p:nvSpPr>
        <p:spPr>
          <a:xfrm>
            <a:off x="5067148" y="5641093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Мастера и бригады с фильтрами</a:t>
            </a:r>
            <a:endParaRPr lang="en-US" sz="1200" dirty="0"/>
          </a:p>
        </p:txBody>
      </p:sp>
      <p:pic>
        <p:nvPicPr>
          <p:cNvPr id="10" name="Экран: Подбор решения и бюджета" descr="Подбор решения и бюджета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4981" y="1463040"/>
            <a:ext cx="1965960" cy="4132333"/>
          </a:xfrm>
          <a:prstGeom prst="rect">
            <a:avLst/>
          </a:prstGeom>
        </p:spPr>
      </p:pic>
      <p:sp>
        <p:nvSpPr>
          <p:cNvPr id="11" name="Подпись: Подбор решения и бюджета"/>
          <p:cNvSpPr txBox="1"/>
          <p:nvPr/>
        </p:nvSpPr>
        <p:spPr>
          <a:xfrm>
            <a:off x="7349261" y="5641093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Подбор решения и бюджета</a:t>
            </a:r>
            <a:endParaRPr lang="en-US" sz="1200" dirty="0"/>
          </a:p>
        </p:txBody>
      </p:sp>
      <p:pic>
        <p:nvPicPr>
          <p:cNvPr id="12" name="Экран: Бизнес: заказы и заработок" descr="Бизнес: заказы и заработок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77095" y="1463040"/>
            <a:ext cx="1965960" cy="4132333"/>
          </a:xfrm>
          <a:prstGeom prst="rect">
            <a:avLst/>
          </a:prstGeom>
        </p:spPr>
      </p:pic>
      <p:sp>
        <p:nvSpPr>
          <p:cNvPr id="13" name="Подпись: Бизнес: заказы и заработок"/>
          <p:cNvSpPr txBox="1"/>
          <p:nvPr/>
        </p:nvSpPr>
        <p:spPr>
          <a:xfrm>
            <a:off x="9631375" y="5641093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Бизнес: заказы и заработок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3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Экономика пилота в Минске</a:t>
            </a:r>
            <a:endParaRPr lang="en-US" sz="3200" dirty="0"/>
          </a:p>
        </p:txBody>
      </p:sp>
      <p:sp>
        <p:nvSpPr>
          <p:cNvPr id="3" name="Метрика 1"/>
          <p:cNvSpPr/>
          <p:nvPr/>
        </p:nvSpPr>
        <p:spPr>
          <a:xfrm>
            <a:off x="548640" y="1325880"/>
            <a:ext cx="3566160" cy="1463040"/>
          </a:xfrm>
          <a:prstGeom prst="roundRect">
            <a:avLst>
              <a:gd name="adj" fmla="val 11250"/>
            </a:avLst>
          </a:prstGeom>
          <a:solidFill>
            <a:srgbClr val="1B1480"/>
          </a:solidFill>
          <a:ln w="12700">
            <a:solidFill>
              <a:srgbClr val="24164F"/>
            </a:solidFill>
            <a:prstDash val="solid"/>
          </a:ln>
          <a:effectLst>
            <a:outerShdw blurRad="101600" dist="25400" dir="5400000" algn="bl" rotWithShape="0">
              <a:srgbClr val="1A1433">
                <a:alpha val="8000"/>
              </a:srgbClr>
            </a:outerShdw>
          </a:effectLst>
        </p:spPr>
      </p:sp>
      <p:sp>
        <p:nvSpPr>
          <p:cNvPr id="4" name="Метрика 1: число"/>
          <p:cNvSpPr txBox="1"/>
          <p:nvPr/>
        </p:nvSpPr>
        <p:spPr>
          <a:xfrm>
            <a:off x="822960" y="14630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300–500 тыс.</a:t>
            </a:r>
            <a:endParaRPr lang="en-US" sz="3600" dirty="0"/>
          </a:p>
        </p:txBody>
      </p:sp>
      <p:sp>
        <p:nvSpPr>
          <p:cNvPr id="5" name="Метрика 1: подпись"/>
          <p:cNvSpPr txBox="1"/>
          <p:nvPr/>
        </p:nvSpPr>
        <p:spPr>
          <a:xfrm>
            <a:off x="822960" y="21762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9BFF0"/>
                </a:solidFill>
              </a:rPr>
              <a:t>BYN затраты на пилот за 12 месяцев</a:t>
            </a:r>
            <a:endParaRPr lang="en-US" sz="1300" dirty="0"/>
          </a:p>
        </p:txBody>
      </p:sp>
      <p:sp>
        <p:nvSpPr>
          <p:cNvPr id="6" name="Метрика 2"/>
          <p:cNvSpPr/>
          <p:nvPr/>
        </p:nvSpPr>
        <p:spPr>
          <a:xfrm>
            <a:off x="4297680" y="1325880"/>
            <a:ext cx="3566160" cy="1463040"/>
          </a:xfrm>
          <a:prstGeom prst="roundRect">
            <a:avLst>
              <a:gd name="adj" fmla="val 11250"/>
            </a:avLst>
          </a:prstGeom>
          <a:solidFill>
            <a:srgbClr val="1B1480"/>
          </a:solidFill>
          <a:ln w="12700">
            <a:solidFill>
              <a:srgbClr val="24164F"/>
            </a:solidFill>
            <a:prstDash val="solid"/>
          </a:ln>
          <a:effectLst>
            <a:outerShdw blurRad="101600" dist="25400" dir="5400000" algn="bl" rotWithShape="0">
              <a:srgbClr val="1A1433">
                <a:alpha val="8000"/>
              </a:srgbClr>
            </a:outerShdw>
          </a:effectLst>
        </p:spPr>
      </p:sp>
      <p:sp>
        <p:nvSpPr>
          <p:cNvPr id="7" name="Метрика 2: число"/>
          <p:cNvSpPr txBox="1"/>
          <p:nvPr/>
        </p:nvSpPr>
        <p:spPr>
          <a:xfrm>
            <a:off x="4572000" y="14630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≈160 BYN</a:t>
            </a:r>
            <a:endParaRPr lang="en-US" sz="3600" dirty="0"/>
          </a:p>
        </p:txBody>
      </p:sp>
      <p:sp>
        <p:nvSpPr>
          <p:cNvPr id="8" name="Метрика 2: подпись"/>
          <p:cNvSpPr txBox="1"/>
          <p:nvPr/>
        </p:nvSpPr>
        <p:spPr>
          <a:xfrm>
            <a:off x="4572000" y="21762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9BFF0"/>
                </a:solidFill>
              </a:rPr>
              <a:t>доход ОМА с заказа: 400 BYN работ и 600 BYN материалов</a:t>
            </a:r>
            <a:endParaRPr lang="en-US" sz="1300" dirty="0"/>
          </a:p>
        </p:txBody>
      </p:sp>
      <p:sp>
        <p:nvSpPr>
          <p:cNvPr id="9" name="Метрика 3"/>
          <p:cNvSpPr/>
          <p:nvPr/>
        </p:nvSpPr>
        <p:spPr>
          <a:xfrm>
            <a:off x="8046720" y="1325880"/>
            <a:ext cx="3566160" cy="1463040"/>
          </a:xfrm>
          <a:prstGeom prst="roundRect">
            <a:avLst>
              <a:gd name="adj" fmla="val 11250"/>
            </a:avLst>
          </a:prstGeom>
          <a:solidFill>
            <a:srgbClr val="FF8200"/>
          </a:solidFill>
          <a:ln w="12700">
            <a:solidFill>
              <a:srgbClr val="FF8200"/>
            </a:solidFill>
            <a:prstDash val="solid"/>
          </a:ln>
          <a:effectLst>
            <a:outerShdw blurRad="101600" dist="25400" dir="5400000" algn="bl" rotWithShape="0">
              <a:srgbClr val="1A1433">
                <a:alpha val="8000"/>
              </a:srgbClr>
            </a:outerShdw>
          </a:effectLst>
        </p:spPr>
      </p:sp>
      <p:sp>
        <p:nvSpPr>
          <p:cNvPr id="10" name="Метрика 3: число"/>
          <p:cNvSpPr txBox="1"/>
          <p:nvPr/>
        </p:nvSpPr>
        <p:spPr>
          <a:xfrm>
            <a:off x="8321040" y="14630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D1300"/>
                </a:solidFill>
              </a:rPr>
              <a:t>≈2 500</a:t>
            </a:r>
            <a:endParaRPr lang="en-US" sz="3600" dirty="0"/>
          </a:p>
        </p:txBody>
      </p:sp>
      <p:sp>
        <p:nvSpPr>
          <p:cNvPr id="11" name="Метрика 3: подпись"/>
          <p:cNvSpPr txBox="1"/>
          <p:nvPr/>
        </p:nvSpPr>
        <p:spPr>
          <a:xfrm>
            <a:off x="8321040" y="21762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A2600"/>
                </a:solidFill>
              </a:rPr>
              <a:t>заказов в год — точка окупаемости</a:t>
            </a:r>
            <a:endParaRPr lang="en-US" sz="1300" dirty="0"/>
          </a:p>
        </p:txBody>
      </p:sp>
      <p:sp>
        <p:nvSpPr>
          <p:cNvPr id="12" name="Затраты"/>
          <p:cNvSpPr/>
          <p:nvPr/>
        </p:nvSpPr>
        <p:spPr>
          <a:xfrm>
            <a:off x="548640" y="3017520"/>
            <a:ext cx="3566160" cy="219456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1A1433">
                <a:alpha val="8000"/>
              </a:srgbClr>
            </a:outerShdw>
          </a:effectLst>
        </p:spPr>
      </p:sp>
      <p:sp>
        <p:nvSpPr>
          <p:cNvPr id="14" name="Затраты: заголовок"/>
          <p:cNvSpPr txBox="1"/>
          <p:nvPr/>
        </p:nvSpPr>
        <p:spPr>
          <a:xfrm>
            <a:off x="822960" y="3200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Затраты</a:t>
            </a:r>
            <a:endParaRPr lang="en-US" sz="2000" dirty="0"/>
          </a:p>
        </p:txBody>
      </p:sp>
      <p:sp>
        <p:nvSpPr>
          <p:cNvPr id="15" name="Затраты: пункты"/>
          <p:cNvSpPr txBox="1"/>
          <p:nvPr/>
        </p:nvSpPr>
        <p:spPr>
          <a:xfrm>
            <a:off x="822960" y="374904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Раздел в приложении и кабинет мастера — 150–250 тыс. BYN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Привлечение и проверка мастеров, страховка, поддержка — 150–250 тыс. BYN</a:t>
            </a:r>
            <a:endParaRPr lang="en-US" sz="1300" dirty="0"/>
          </a:p>
        </p:txBody>
      </p:sp>
      <p:sp>
        <p:nvSpPr>
          <p:cNvPr id="16" name="Доход"/>
          <p:cNvSpPr/>
          <p:nvPr/>
        </p:nvSpPr>
        <p:spPr>
          <a:xfrm>
            <a:off x="4297680" y="3017520"/>
            <a:ext cx="3566160" cy="219456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1A1433">
                <a:alpha val="8000"/>
              </a:srgbClr>
            </a:outerShdw>
          </a:effectLst>
        </p:spPr>
      </p:sp>
      <p:sp>
        <p:nvSpPr>
          <p:cNvPr id="18" name="Доход: заголовок"/>
          <p:cNvSpPr txBox="1"/>
          <p:nvPr/>
        </p:nvSpPr>
        <p:spPr>
          <a:xfrm>
            <a:off x="4572000" y="3200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Доход</a:t>
            </a:r>
            <a:endParaRPr lang="en-US" sz="2000" dirty="0"/>
          </a:p>
        </p:txBody>
      </p:sp>
      <p:sp>
        <p:nvSpPr>
          <p:cNvPr id="19" name="Доход: пункты"/>
          <p:cNvSpPr txBox="1"/>
          <p:nvPr/>
        </p:nvSpPr>
        <p:spPr>
          <a:xfrm>
            <a:off x="4572000" y="374904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Около 10% на работах: ОМА — исполнитель, мастер — субподрядчик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Маржа на материалах по смете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Закупка мастеров по OMA PRO</a:t>
            </a:r>
            <a:endParaRPr lang="en-US" sz="1300" dirty="0"/>
          </a:p>
        </p:txBody>
      </p:sp>
      <p:sp>
        <p:nvSpPr>
          <p:cNvPr id="20" name="Экономия"/>
          <p:cNvSpPr/>
          <p:nvPr/>
        </p:nvSpPr>
        <p:spPr>
          <a:xfrm>
            <a:off x="8046720" y="3017520"/>
            <a:ext cx="3566160" cy="219456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1A1433">
                <a:alpha val="8000"/>
              </a:srgbClr>
            </a:outerShdw>
          </a:effectLst>
        </p:spPr>
      </p:sp>
      <p:sp>
        <p:nvSpPr>
          <p:cNvPr id="22" name="Экономия: заголовок"/>
          <p:cNvSpPr txBox="1"/>
          <p:nvPr/>
        </p:nvSpPr>
        <p:spPr>
          <a:xfrm>
            <a:off x="8321040" y="3200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Экономия</a:t>
            </a:r>
            <a:endParaRPr lang="en-US" sz="2000" dirty="0"/>
          </a:p>
        </p:txBody>
      </p:sp>
      <p:sp>
        <p:nvSpPr>
          <p:cNvPr id="23" name="Экономия: пункты"/>
          <p:cNvSpPr txBox="1"/>
          <p:nvPr/>
        </p:nvSpPr>
        <p:spPr>
          <a:xfrm>
            <a:off x="8321040" y="374904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Подбор и консультации уходят из магазина в приложение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Меньше возвратов: смета считается по проекту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Трафик уже есть: магазины, OMA PRO и «Баланс»</a:t>
            </a:r>
            <a:endParaRPr lang="en-US" sz="1300" dirty="0"/>
          </a:p>
        </p:txBody>
      </p:sp>
      <p:sp>
        <p:nvSpPr>
          <p:cNvPr id="24" name="Следующий шаг"/>
          <p:cNvSpPr/>
          <p:nvPr/>
        </p:nvSpPr>
        <p:spPr>
          <a:xfrm>
            <a:off x="548640" y="5349240"/>
            <a:ext cx="11094415" cy="640080"/>
          </a:xfrm>
          <a:prstGeom prst="roundRect">
            <a:avLst>
              <a:gd name="adj" fmla="val 25714"/>
            </a:avLst>
          </a:prstGeom>
          <a:solidFill>
            <a:srgbClr val="1B1480"/>
          </a:solidFill>
          <a:ln w="12700">
            <a:solidFill>
              <a:srgbClr val="24164F"/>
            </a:solidFill>
            <a:prstDash val="solid"/>
          </a:ln>
        </p:spPr>
      </p:sp>
      <p:sp>
        <p:nvSpPr>
          <p:cNvPr id="25" name="Следующий шаг: текст"/>
          <p:cNvSpPr txBox="1"/>
          <p:nvPr/>
        </p:nvSpPr>
        <p:spPr>
          <a:xfrm>
            <a:off x="822960" y="539496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A3D"/>
                </a:solidFill>
              </a:rPr>
              <a:t>Следующий шаг: </a:t>
            </a:r>
            <a:r>
              <a:rPr lang="en-US" sz="1400" dirty="0">
                <a:solidFill>
                  <a:srgbClr val="FFFFFF"/>
                </a:solidFill>
              </a:rPr>
              <a:t>пилот в Минске на ремонте санузлов и установке, затем кухни, дача и регионы — та же модель на новые категории</a:t>
            </a:r>
            <a:endParaRPr lang="en-US" sz="1400" dirty="0"/>
          </a:p>
        </p:txBody>
      </p:sp>
      <p:sp>
        <p:nvSpPr>
          <p:cNvPr id="26" name="Правовая основа"/>
          <p:cNvSpPr txBox="1"/>
          <p:nvPr/>
        </p:nvSpPr>
        <p:spPr>
          <a:xfrm>
            <a:off x="548640" y="6062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По законам РБ: ОМА — исполнитель по бытовому подряду (ГК, Закон «О защите прав потребителей»), мастера — субподрядчики, данные — по Закону № 99-З, хранение в Беларуси</a:t>
            </a:r>
            <a:endParaRPr lang="en-US" sz="10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3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MA dlya doma">
  <a:themeElements>
    <a:clrScheme name="OMA dlya doma">
      <a:dk1>
        <a:srgbClr val="1A1433"/>
      </a:dk1>
      <a:lt1>
        <a:srgbClr val="FFFFFF"/>
      </a:lt1>
      <a:dk2>
        <a:srgbClr val="24164F"/>
      </a:dk2>
      <a:lt2>
        <a:srgbClr val="F3F5FA"/>
      </a:lt2>
      <a:accent1>
        <a:srgbClr val="FF8200"/>
      </a:accent1>
      <a:accent2>
        <a:srgbClr val="005DD6"/>
      </a:accent2>
      <a:accent3>
        <a:srgbClr val="37235E"/>
      </a:accent3>
      <a:accent4>
        <a:srgbClr val="1FB5C9"/>
      </a:accent4>
      <a:accent5>
        <a:srgbClr val="E0457B"/>
      </a:accent5>
      <a:accent6>
        <a:srgbClr val="6B7385"/>
      </a:accent6>
      <a:hlink>
        <a:srgbClr val="005DD6"/>
      </a:hlink>
      <a:folHlink>
        <a:srgbClr val="37235E"/>
      </a:folHlink>
    </a:clrScheme>
    <a:fontScheme name="OMA dlya doma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962</Words>
  <Application>Microsoft Office PowerPoint</Application>
  <PresentationFormat>Широкоэкранный</PresentationFormat>
  <Paragraphs>171</Paragraphs>
  <Slides>7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Roboto</vt:lpstr>
      <vt:lpstr>OMA dlya doma</vt:lpstr>
      <vt:lpstr>Презентация PowerPoint</vt:lpstr>
      <vt:lpstr>Магазин помогает купить, но не помогает сделать</vt:lpstr>
      <vt:lpstr>Решение: одно приложение для двух сторон ремонта</vt:lpstr>
      <vt:lpstr>Чем мы лучше альтернатив</vt:lpstr>
      <vt:lpstr>Путь клиента и путь мастера</vt:lpstr>
      <vt:lpstr>Как выглядит прототип:</vt:lpstr>
      <vt:lpstr>Экономика пилота в Минске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ОМА для дома</dc:title>
  <dc:subject>PptxGenJS Presentation</dc:subject>
  <dc:creator>Мовсик Алексей, Мухин Захар, Гайдук Никита</dc:creator>
  <cp:lastModifiedBy>user</cp:lastModifiedBy>
  <cp:revision>5</cp:revision>
  <dcterms:created xsi:type="dcterms:W3CDTF">2026-10-28T15:09:25Z</dcterms:created>
  <dcterms:modified xsi:type="dcterms:W3CDTF">2026-10-28T15:31:48Z</dcterms:modified>
</cp:coreProperties>
</file>