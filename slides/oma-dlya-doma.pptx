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15a47cbb-6572-ed86-ea0c-d5aaa11ca35e}">
          <p14:sldIdLst>
            <p14:sldId id="256"/>
          </p14:sldIdLst>
        </p14:section>
        <p14:section name="Проблема" id="{6c38b86c-ae79-ee27-fa5d-e4d1b87b6295}">
          <p14:sldIdLst>
            <p14:sldId id="257"/>
          </p14:sldIdLst>
        </p14:section>
        <p14:section name="Решение" id="{5dd402c4-db70-b558-df9a-de3d18d01c76}">
          <p14:sldIdLst>
            <p14:sldId id="258"/>
          </p14:sldIdLst>
        </p14:section>
        <p14:section name="Конкуренты" id="{2baae260-96ef-6951-c814-c06782b9dc19}">
          <p14:sldIdLst>
            <p14:sldId id="259"/>
          </p14:sldIdLst>
        </p14:section>
        <p14:section name="Путь пользователя" id="{4fa848e6-d78f-7af0-11ec-fc977205f31c}">
          <p14:sldIdLst>
            <p14:sldId id="260"/>
          </p14:sldIdLst>
        </p14:section>
        <p14:section name="Демо" id="{058f2f0c-9171-a5be-6229-e0796f0ff818}">
          <p14:sldIdLst>
            <p14:sldId id="261"/>
          </p14:sldIdLst>
        </p14:section>
        <p14:section name="Экономика" id="{1a7dd056-2245-4eb2-d2a2-44cd09764c82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ОМА для дома — одно приложение, где частный клиент покупает материалы и получает готовый ремонт, а мастер получает заказы и закупку. Ответственный за всё — ОМА.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Аудитория у ОМА огромная, но магазин заканчивается на кассе. Клиент остаётся один на один с поиском мастера, а мастер — с поиском заказов. Мы закрываем разрыв для обеих сторон.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стороны в одном приложении. Частное лицо видит дизайн, стройку и бюджет. Бизнес — заказы, заработок и закупку. Посередине ОМА: договор, цена, гарантия и оплата после приёмки.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один способ найти мастера сегодня не связывает материалы и работу. У нас смета из товаров ОМА, материалы одной партией к дате работ, оплата после приёмки и один ответственный.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дорожки одного процесса. Клиент идёт от задачи до приёмки, мастер — от регистрации до выплаты. Встречаются на заказе, который ведёт ОМА. После ремонта обе стороны остаются в приложении.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Прототип открывается по ссылке. Показываем регистрацию с выбором частное лицо или бизнес, категории стройки, каталог мастеров с фильтрами, подбор бюджета и кабинет мастера с заработком.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Пилот в Минске стоит 300–500 тысяч рублей за год. С одного заказа ОМА получает около 160 рублей, окупаемость — примерно 2 500 заказов в год. Трафик уже есть: магазины, OMA PRO и «Баланс». Модель законна: ОМА отвечает перед клиентом как исполнитель.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rgbClr val="241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3F5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ОМА для дома · хакатон ОМА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Логотип" descr="/tmp/claude-0/-home-user-hackatonoma/e77f010d-b8c6-588a-a375-3aa4548717b1/scratchpad/deckgen/assets/lockup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5852160" cy="1397324"/>
          </a:xfrm>
          <a:prstGeom prst="rect">
            <a:avLst/>
          </a:prstGeom>
        </p:spPr>
      </p:pic>
      <p:sp>
        <p:nvSpPr>
          <p:cNvPr id="3" name="Подзаголовок"/>
          <p:cNvSpPr txBox="1"/>
          <p:nvPr/>
        </p:nvSpPr>
        <p:spPr>
          <a:xfrm>
            <a:off x="640080" y="288036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Ремонт в одном окне — от выбора материалов до готового результата</a:t>
            </a:r>
            <a:endParaRPr lang="en-US" sz="2400" dirty="0"/>
          </a:p>
        </p:txBody>
      </p:sp>
      <p:sp>
        <p:nvSpPr>
          <p:cNvPr id="4" name="Описание"/>
          <p:cNvSpPr txBox="1"/>
          <p:nvPr/>
        </p:nvSpPr>
        <p:spPr>
          <a:xfrm>
            <a:off x="640080" y="38862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9BFF0"/>
                </a:solidFill>
              </a:rPr>
              <a:t>Приложение ОМА для частных клиентов и для мастеров</a:t>
            </a:r>
            <a:endParaRPr lang="en-US" sz="1600" dirty="0"/>
          </a:p>
        </p:txBody>
      </p:sp>
      <p:sp>
        <p:nvSpPr>
          <p:cNvPr id="5" name="Команда"/>
          <p:cNvSpPr txBox="1"/>
          <p:nvPr/>
        </p:nvSpPr>
        <p:spPr>
          <a:xfrm>
            <a:off x="640080" y="48006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Мовсик Алексей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Мухин Захар (спикер)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Гайдук Никита</a:t>
            </a:r>
            <a:endParaRPr lang="en-US" sz="1500" dirty="0"/>
          </a:p>
        </p:txBody>
      </p:sp>
      <p:sp>
        <p:nvSpPr>
          <p:cNvPr id="6" name="Подложка"/>
          <p:cNvSpPr/>
          <p:nvPr/>
        </p:nvSpPr>
        <p:spPr>
          <a:xfrm>
            <a:off x="7498080" y="822960"/>
            <a:ext cx="4206240" cy="4206240"/>
          </a:xfrm>
          <a:prstGeom prst="ellipse">
            <a:avLst/>
          </a:prstGeom>
          <a:solidFill>
            <a:srgbClr val="37235E"/>
          </a:solidFill>
          <a:ln w="12700">
            <a:solidFill>
              <a:srgbClr val="37235E"/>
            </a:solidFill>
            <a:prstDash val="solid"/>
          </a:ln>
        </p:spPr>
      </p:sp>
      <p:pic>
        <p:nvPicPr>
          <p:cNvPr id="7" name="Дом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234440"/>
            <a:ext cx="3200400" cy="3200400"/>
          </a:xfrm>
          <a:prstGeom prst="rect">
            <a:avLst/>
          </a:prstGeom>
        </p:spPr>
      </p:pic>
      <p:pic>
        <p:nvPicPr>
          <p:cNvPr id="8" name="Мастер" descr="/tmp/claude-0/-home-user-hackatonoma/e77f010d-b8c6-588a-a375-3aa4548717b1/scratchpad/deckgen/assets/work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3886200"/>
            <a:ext cx="1645920" cy="1645920"/>
          </a:xfrm>
          <a:prstGeom prst="rect">
            <a:avLst/>
          </a:prstGeom>
        </p:spPr>
      </p:pic>
      <p:pic>
        <p:nvPicPr>
          <p:cNvPr id="9" name="Инструменты" descr="/tmp/claude-0/-home-user-hackatonoma/e77f010d-b8c6-588a-a375-3aa4548717b1/scratchpad/deckgen/assets/toolbo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0" y="4069080"/>
            <a:ext cx="1463040" cy="1463040"/>
          </a:xfrm>
          <a:prstGeom prst="rect">
            <a:avLst/>
          </a:prstGeom>
        </p:spPr>
      </p:pic>
      <p:pic>
        <p:nvPicPr>
          <p:cNvPr id="10" name="Материалы" descr="/tmp/claude-0/-home-user-hackatonoma/e77f010d-b8c6-588a-a375-3aa4548717b1/scratchpad/deckgen/assets/brick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44200" y="6858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Магазин помогает купить, но не помогает сделать</a:t>
            </a:r>
            <a:endParaRPr lang="en-US" sz="3200" dirty="0"/>
          </a:p>
        </p:txBody>
      </p:sp>
      <p:sp>
        <p:nvSpPr>
          <p:cNvPr id="3" name="Цифра 1"/>
          <p:cNvSpPr/>
          <p:nvPr/>
        </p:nvSpPr>
        <p:spPr>
          <a:xfrm>
            <a:off x="548640" y="1325880"/>
            <a:ext cx="3566160" cy="1325880"/>
          </a:xfrm>
          <a:prstGeom prst="roundRect">
            <a:avLst>
              <a:gd name="adj" fmla="val 12414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" name="Число 1"/>
          <p:cNvSpPr txBox="1"/>
          <p:nvPr/>
        </p:nvSpPr>
        <p:spPr>
          <a:xfrm>
            <a:off x="82296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1,3 млн</a:t>
            </a:r>
            <a:endParaRPr lang="en-US" sz="4000" dirty="0"/>
          </a:p>
        </p:txBody>
      </p:sp>
      <p:sp>
        <p:nvSpPr>
          <p:cNvPr id="5" name="Подпись 1"/>
          <p:cNvSpPr txBox="1"/>
          <p:nvPr/>
        </p:nvSpPr>
        <p:spPr>
          <a:xfrm>
            <a:off x="82296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BFF0"/>
                </a:solidFill>
              </a:rPr>
              <a:t>посетителей сайта ОМА в месяц</a:t>
            </a:r>
            <a:endParaRPr lang="en-US" sz="1400" dirty="0"/>
          </a:p>
        </p:txBody>
      </p:sp>
      <p:sp>
        <p:nvSpPr>
          <p:cNvPr id="6" name="Цифра 2"/>
          <p:cNvSpPr/>
          <p:nvPr/>
        </p:nvSpPr>
        <p:spPr>
          <a:xfrm>
            <a:off x="4297680" y="1325880"/>
            <a:ext cx="3566160" cy="1325880"/>
          </a:xfrm>
          <a:prstGeom prst="roundRect">
            <a:avLst>
              <a:gd name="adj" fmla="val 124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7" name="Число 2"/>
          <p:cNvSpPr txBox="1"/>
          <p:nvPr/>
        </p:nvSpPr>
        <p:spPr>
          <a:xfrm>
            <a:off x="457200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800 тыс.</a:t>
            </a:r>
            <a:endParaRPr lang="en-US" sz="4000" dirty="0"/>
          </a:p>
        </p:txBody>
      </p:sp>
      <p:sp>
        <p:nvSpPr>
          <p:cNvPr id="8" name="Подпись 2"/>
          <p:cNvSpPr txBox="1"/>
          <p:nvPr/>
        </p:nvSpPr>
        <p:spPr>
          <a:xfrm>
            <a:off x="457200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участников программы «Баланс»</a:t>
            </a:r>
            <a:endParaRPr lang="en-US" sz="1400" dirty="0"/>
          </a:p>
        </p:txBody>
      </p:sp>
      <p:sp>
        <p:nvSpPr>
          <p:cNvPr id="9" name="Цифра 3"/>
          <p:cNvSpPr/>
          <p:nvPr/>
        </p:nvSpPr>
        <p:spPr>
          <a:xfrm>
            <a:off x="8046720" y="1325880"/>
            <a:ext cx="3566160" cy="1325880"/>
          </a:xfrm>
          <a:prstGeom prst="roundRect">
            <a:avLst>
              <a:gd name="adj" fmla="val 124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0" name="Число 3"/>
          <p:cNvSpPr txBox="1"/>
          <p:nvPr/>
        </p:nvSpPr>
        <p:spPr>
          <a:xfrm>
            <a:off x="832104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</a:rPr>
              <a:t>4 000+</a:t>
            </a:r>
            <a:endParaRPr lang="en-US" sz="4000" dirty="0"/>
          </a:p>
        </p:txBody>
      </p:sp>
      <p:sp>
        <p:nvSpPr>
          <p:cNvPr id="11" name="Подпись 3"/>
          <p:cNvSpPr txBox="1"/>
          <p:nvPr/>
        </p:nvSpPr>
        <p:spPr>
          <a:xfrm>
            <a:off x="832104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компаний и ИП в OMA PRO в месяц</a:t>
            </a:r>
            <a:endParaRPr lang="en-US" sz="1400" dirty="0"/>
          </a:p>
        </p:txBody>
      </p:sp>
      <p:sp>
        <p:nvSpPr>
          <p:cNvPr id="12" name="Сторона 1"/>
          <p:cNvSpPr/>
          <p:nvPr/>
        </p:nvSpPr>
        <p:spPr>
          <a:xfrm>
            <a:off x="548640" y="288036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3" name="Иконка 1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3017520"/>
            <a:ext cx="914400" cy="914400"/>
          </a:xfrm>
          <a:prstGeom prst="rect">
            <a:avLst/>
          </a:prstGeom>
        </p:spPr>
      </p:pic>
      <p:sp>
        <p:nvSpPr>
          <p:cNvPr id="14" name="Заголовок 1"/>
          <p:cNvSpPr txBox="1"/>
          <p:nvPr/>
        </p:nvSpPr>
        <p:spPr>
          <a:xfrm>
            <a:off x="822960" y="3063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Частный клиент</a:t>
            </a:r>
            <a:endParaRPr lang="en-US" sz="2000" dirty="0"/>
          </a:p>
        </p:txBody>
      </p:sp>
      <p:sp>
        <p:nvSpPr>
          <p:cNvPr id="15" name="Аудитория 1"/>
          <p:cNvSpPr txBox="1"/>
          <p:nvPr/>
        </p:nvSpPr>
        <p:spPr>
          <a:xfrm>
            <a:off x="822960" y="3520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Владельцы квартир и домов 20–60 лет: покупают материалы, но не делают ремонт сами</a:t>
            </a:r>
            <a:endParaRPr lang="en-US" sz="1200" dirty="0"/>
          </a:p>
        </p:txBody>
      </p:sp>
      <p:sp>
        <p:nvSpPr>
          <p:cNvPr id="16" name="Боли 1"/>
          <p:cNvSpPr txBox="1"/>
          <p:nvPr/>
        </p:nvSpPr>
        <p:spPr>
          <a:xfrm>
            <a:off x="822960" y="420624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Материалы покупает в ОМА, мастера ищет по знакомым и объявлениям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знает, сколько стоит ремонт целиком и где сэкономить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Нет одного ответственного: при проблеме виноватого ищет сам</a:t>
            </a:r>
            <a:endParaRPr lang="en-US" sz="1400" dirty="0"/>
          </a:p>
        </p:txBody>
      </p:sp>
      <p:sp>
        <p:nvSpPr>
          <p:cNvPr id="17" name="Сторона 2"/>
          <p:cNvSpPr/>
          <p:nvPr/>
        </p:nvSpPr>
        <p:spPr>
          <a:xfrm>
            <a:off x="6172200" y="2880360"/>
            <a:ext cx="544068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8" name="Иконка 2" descr="/tmp/claude-0/-home-user-hackatonoma/e77f010d-b8c6-588a-a375-3aa4548717b1/scratchpad/deckgen/asset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3017520"/>
            <a:ext cx="914400" cy="914400"/>
          </a:xfrm>
          <a:prstGeom prst="rect">
            <a:avLst/>
          </a:prstGeom>
        </p:spPr>
      </p:pic>
      <p:sp>
        <p:nvSpPr>
          <p:cNvPr id="19" name="Заголовок 2"/>
          <p:cNvSpPr txBox="1"/>
          <p:nvPr/>
        </p:nvSpPr>
        <p:spPr>
          <a:xfrm>
            <a:off x="6446520" y="30632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Мастер и бригада</a:t>
            </a:r>
            <a:endParaRPr lang="en-US" sz="2000" dirty="0"/>
          </a:p>
        </p:txBody>
      </p:sp>
      <p:sp>
        <p:nvSpPr>
          <p:cNvPr id="20" name="Аудитория 2"/>
          <p:cNvSpPr txBox="1"/>
          <p:nvPr/>
        </p:nvSpPr>
        <p:spPr>
          <a:xfrm>
            <a:off x="6446520" y="35204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ИП и небольшие компании — клиенты OMA PRO, которые делают ремонт под заказ</a:t>
            </a:r>
            <a:endParaRPr lang="en-US" sz="1200" dirty="0"/>
          </a:p>
        </p:txBody>
      </p:sp>
      <p:sp>
        <p:nvSpPr>
          <p:cNvPr id="21" name="Боли 2"/>
          <p:cNvSpPr txBox="1"/>
          <p:nvPr/>
        </p:nvSpPr>
        <p:spPr>
          <a:xfrm>
            <a:off x="6446520" y="4206240"/>
            <a:ext cx="4892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Заказы нерегулярные: клиентов ищут через знакомых и объявления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Закупка под каждый объект отнимает время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Оплата — по договорённости, без гарантий и документов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Решение: одно приложение для двух сторон ремонта</a:t>
            </a:r>
            <a:endParaRPr lang="en-US" sz="3200" dirty="0"/>
          </a:p>
        </p:txBody>
      </p:sp>
      <p:sp>
        <p:nvSpPr>
          <p:cNvPr id="3" name="Частное лицо"/>
          <p:cNvSpPr/>
          <p:nvPr/>
        </p:nvSpPr>
        <p:spPr>
          <a:xfrm>
            <a:off x="548640" y="1325880"/>
            <a:ext cx="3794760" cy="397764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4" name="Частное лицо: иконка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7560" y="1463040"/>
            <a:ext cx="822960" cy="822960"/>
          </a:xfrm>
          <a:prstGeom prst="rect">
            <a:avLst/>
          </a:prstGeom>
        </p:spPr>
      </p:pic>
      <p:sp>
        <p:nvSpPr>
          <p:cNvPr id="5" name="Частное лицо: заголовок"/>
          <p:cNvSpPr txBox="1"/>
          <p:nvPr/>
        </p:nvSpPr>
        <p:spPr>
          <a:xfrm>
            <a:off x="822960" y="1508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Частное лицо</a:t>
            </a:r>
            <a:endParaRPr lang="en-US" sz="2000" dirty="0"/>
          </a:p>
        </p:txBody>
      </p:sp>
      <p:sp>
        <p:nvSpPr>
          <p:cNvPr id="6" name="Частное лицо: подзаголовок"/>
          <p:cNvSpPr txBox="1"/>
          <p:nvPr/>
        </p:nvSpPr>
        <p:spPr>
          <a:xfrm>
            <a:off x="822960" y="19385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Ремонт для себя</a:t>
            </a:r>
            <a:endParaRPr lang="en-US" sz="1200" dirty="0"/>
          </a:p>
        </p:txBody>
      </p:sp>
      <p:sp>
        <p:nvSpPr>
          <p:cNvPr id="7" name="Частное лицо: функции"/>
          <p:cNvSpPr txBox="1"/>
          <p:nvPr/>
        </p:nvSpPr>
        <p:spPr>
          <a:xfrm>
            <a:off x="822960" y="2468880"/>
            <a:ext cx="3337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Дизайн комнат, 3D кухни и санузла бесплатно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Мастера и бригады с фильтрами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Подбор решения и бюджета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Ремонт под ключ по этапам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Паспорт дома и бонусы «Баланс»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Прокат у магазина и у соседа</a:t>
            </a:r>
            <a:endParaRPr lang="en-US" sz="1400" dirty="0"/>
          </a:p>
        </p:txBody>
      </p:sp>
      <p:sp>
        <p:nvSpPr>
          <p:cNvPr id="8" name="Бизнес"/>
          <p:cNvSpPr/>
          <p:nvPr/>
        </p:nvSpPr>
        <p:spPr>
          <a:xfrm>
            <a:off x="7848295" y="1325880"/>
            <a:ext cx="3794760" cy="3977640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9" name="Бизнес: иконка" descr="/tmp/claude-0/-home-user-hackatonoma/e77f010d-b8c6-588a-a375-3aa4548717b1/scratchpad/deckgen/asset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1463040"/>
            <a:ext cx="822960" cy="822960"/>
          </a:xfrm>
          <a:prstGeom prst="rect">
            <a:avLst/>
          </a:prstGeom>
        </p:spPr>
      </p:pic>
      <p:sp>
        <p:nvSpPr>
          <p:cNvPr id="10" name="Бизнес: заголовок"/>
          <p:cNvSpPr txBox="1"/>
          <p:nvPr/>
        </p:nvSpPr>
        <p:spPr>
          <a:xfrm>
            <a:off x="8122615" y="150876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Бизнес</a:t>
            </a:r>
            <a:endParaRPr lang="en-US" sz="2000" dirty="0"/>
          </a:p>
        </p:txBody>
      </p:sp>
      <p:sp>
        <p:nvSpPr>
          <p:cNvPr id="11" name="Бизнес: подзаголовок"/>
          <p:cNvSpPr txBox="1"/>
          <p:nvPr/>
        </p:nvSpPr>
        <p:spPr>
          <a:xfrm>
            <a:off x="8122615" y="1938528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Мастер, бригада, компания</a:t>
            </a:r>
            <a:endParaRPr lang="en-US" sz="1200" dirty="0"/>
          </a:p>
        </p:txBody>
      </p:sp>
      <p:sp>
        <p:nvSpPr>
          <p:cNvPr id="12" name="Бизнес: функции"/>
          <p:cNvSpPr txBox="1"/>
          <p:nvPr/>
        </p:nvSpPr>
        <p:spPr>
          <a:xfrm>
            <a:off x="8122615" y="2468880"/>
            <a:ext cx="33375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Регистрация и проверка ОМА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Заявки от ОМА — принять в один клик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Заказы и заработок за любой период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Закупка по ценам OMA PRO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Прокат техники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Договор, акты и счета в приложении</a:t>
            </a:r>
            <a:endParaRPr lang="en-US" sz="1400" dirty="0"/>
          </a:p>
        </p:txBody>
      </p:sp>
      <p:sp>
        <p:nvSpPr>
          <p:cNvPr id="13" name="ОМА"/>
          <p:cNvSpPr/>
          <p:nvPr/>
        </p:nvSpPr>
        <p:spPr>
          <a:xfrm>
            <a:off x="4617720" y="1325880"/>
            <a:ext cx="2956255" cy="3977640"/>
          </a:xfrm>
          <a:prstGeom prst="roundRect">
            <a:avLst>
              <a:gd name="adj" fmla="val 5568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4" name="ОМА: логотип" descr="/tmp/claude-0/-home-user-hackatonoma/e77f010d-b8c6-588a-a375-3aa4548717b1/scratchpad/deckgen/assets/lock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645920"/>
            <a:ext cx="2316175" cy="553035"/>
          </a:xfrm>
          <a:prstGeom prst="rect">
            <a:avLst/>
          </a:prstGeom>
        </p:spPr>
      </p:pic>
      <p:sp>
        <p:nvSpPr>
          <p:cNvPr id="15" name="ОМА: роль"/>
          <p:cNvSpPr txBox="1"/>
          <p:nvPr/>
        </p:nvSpPr>
        <p:spPr>
          <a:xfrm>
            <a:off x="4937760" y="2560320"/>
            <a:ext cx="2316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Отвечает ОМА</a:t>
            </a:r>
            <a:endParaRPr lang="en-US" sz="1600" dirty="0"/>
          </a:p>
        </p:txBody>
      </p:sp>
      <p:sp>
        <p:nvSpPr>
          <p:cNvPr id="16" name="ОМА: гарантии"/>
          <p:cNvSpPr txBox="1"/>
          <p:nvPr/>
        </p:nvSpPr>
        <p:spPr>
          <a:xfrm>
            <a:off x="4937760" y="3017520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Договор с клиентом на товары и подряд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Мастера — проверенные субподрядчики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Цена фиксируется до начала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Оплата этапа — после приёмки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9BFF0"/>
                </a:solidFill>
              </a:rPr>
              <a:t>Гарантия ОМА на всё</a:t>
            </a:r>
            <a:endParaRPr lang="en-US" sz="1300" dirty="0"/>
          </a:p>
        </p:txBody>
      </p:sp>
      <p:sp>
        <p:nvSpPr>
          <p:cNvPr id="17" name="Стрелка 1"/>
          <p:cNvSpPr/>
          <p:nvPr/>
        </p:nvSpPr>
        <p:spPr>
          <a:xfrm>
            <a:off x="4389120" y="3108960"/>
            <a:ext cx="192024" cy="365760"/>
          </a:xfrm>
          <a:prstGeom prst="rightArrow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8" name="Стрелка 2"/>
          <p:cNvSpPr/>
          <p:nvPr/>
        </p:nvSpPr>
        <p:spPr>
          <a:xfrm>
            <a:off x="7619695" y="3108960"/>
            <a:ext cx="192024" cy="365760"/>
          </a:xfrm>
          <a:prstGeom prst="leftArrow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9" name="Результат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22500"/>
            </a:avLst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20" name="Результат: текст"/>
          <p:cNvSpPr txBox="1"/>
          <p:nvPr/>
        </p:nvSpPr>
        <p:spPr>
          <a:xfrm>
            <a:off x="822960" y="5559552"/>
            <a:ext cx="1054577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1300"/>
                </a:solidFill>
              </a:rPr>
              <a:t>Результат: </a:t>
            </a:r>
            <a:pPr indent="0" marL="0">
              <a:buNone/>
            </a:pPr>
            <a:r>
              <a:rPr lang="en-US" sz="1500" dirty="0">
                <a:solidFill>
                  <a:srgbClr val="1D1300"/>
                </a:solidFill>
              </a:rPr>
              <a:t>от сметы до старта работ — до 10 дней, цена известна до начала, один ответственный за товар и работу, вся история — в приложении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Чем мы лучше альтернатив</a:t>
            </a:r>
            <a:endParaRPr lang="en-US" sz="3200" dirty="0"/>
          </a:p>
        </p:txBody>
      </p:sp>
      <p:graphicFrame>
        <p:nvGraphicFramePr>
          <p:cNvPr id="5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91640"/>
                <a:gridCol w="1965960"/>
                <a:gridCol w="2240280"/>
                <a:gridCol w="190469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Критерий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Объявления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Мастер «по знакомству»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Сервисы услуг (Onliner, Kufar)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6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ОМА для дома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82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Смета материалов с пояснением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Материалы одной партией к дате работ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Фиксированная цена работ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По договорённости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Оплата после приёмки этапа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По договорённости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Да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Один ответственный за товар и работу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ОМА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Гарантия и история ремонта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Паспорт дома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433"/>
                          </a:solidFill>
                        </a:rPr>
                        <a:t>Поток заказов и закупка для мастера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C6478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433"/>
                          </a:solidFill>
                        </a:rPr>
                        <a:t>Частично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4164F"/>
                          </a:solidFill>
                        </a:rPr>
                        <a:t>Заявки ОМА + OMA PRO</a:t>
                      </a:r>
                      <a:endParaRPr lang="en-US" sz="130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E2"/>
                    </a:solidFill>
                  </a:tcPr>
                </a:tc>
              </a:tr>
            </a:tbl>
          </a:graphicData>
        </a:graphic>
      </p:graphicFrame>
      <p:sp>
        <p:nvSpPr>
          <p:cNvPr id="4" name="Преимущество 1"/>
          <p:cNvSpPr/>
          <p:nvPr/>
        </p:nvSpPr>
        <p:spPr>
          <a:xfrm>
            <a:off x="548640" y="4983480"/>
            <a:ext cx="5440680" cy="1143000"/>
          </a:xfrm>
          <a:prstGeom prst="roundRect">
            <a:avLst>
              <a:gd name="adj" fmla="val 1440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5" name="Преимущество 1: заголовок"/>
          <p:cNvSpPr txBox="1"/>
          <p:nvPr/>
        </p:nvSpPr>
        <p:spPr>
          <a:xfrm>
            <a:off x="822960" y="51206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A3D"/>
                </a:solidFill>
              </a:rPr>
              <a:t>Смета из товаров ОМА</a:t>
            </a:r>
            <a:endParaRPr lang="en-US" sz="1700" dirty="0"/>
          </a:p>
        </p:txBody>
      </p:sp>
      <p:sp>
        <p:nvSpPr>
          <p:cNvPr id="6" name="Преимущество 1: текст"/>
          <p:cNvSpPr txBox="1"/>
          <p:nvPr/>
        </p:nvSpPr>
        <p:spPr>
          <a:xfrm>
            <a:off x="822960" y="550468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Материалы и работы в одном итоге: клиент видит цену ремонта сразу</a:t>
            </a:r>
            <a:endParaRPr lang="en-US" sz="1300" dirty="0"/>
          </a:p>
        </p:txBody>
      </p:sp>
      <p:sp>
        <p:nvSpPr>
          <p:cNvPr id="7" name="Преимущество 2"/>
          <p:cNvSpPr/>
          <p:nvPr/>
        </p:nvSpPr>
        <p:spPr>
          <a:xfrm>
            <a:off x="6172200" y="4983480"/>
            <a:ext cx="5440680" cy="1143000"/>
          </a:xfrm>
          <a:prstGeom prst="roundRect">
            <a:avLst>
              <a:gd name="adj" fmla="val 1440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8" name="Преимущество 2: заголовок"/>
          <p:cNvSpPr txBox="1"/>
          <p:nvPr/>
        </p:nvSpPr>
        <p:spPr>
          <a:xfrm>
            <a:off x="6446520" y="512064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A3D"/>
                </a:solidFill>
              </a:rPr>
              <a:t>Проверено ОМА</a:t>
            </a:r>
            <a:endParaRPr lang="en-US" sz="1700" dirty="0"/>
          </a:p>
        </p:txBody>
      </p:sp>
      <p:sp>
        <p:nvSpPr>
          <p:cNvPr id="9" name="Преимущество 2: текст"/>
          <p:cNvSpPr txBox="1"/>
          <p:nvPr/>
        </p:nvSpPr>
        <p:spPr>
          <a:xfrm>
            <a:off x="6446520" y="550468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УНП, допуски и рейтинг только по заказам через ОМА — вместо анонимных объявлений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Путь клиента и путь мастера</a:t>
            </a:r>
            <a:endParaRPr lang="en-US" sz="3200" dirty="0"/>
          </a:p>
        </p:txBody>
      </p:sp>
      <p:pic>
        <p:nvPicPr>
          <p:cNvPr id="3" name="Клиент: иконка" descr="/tmp/claude-0/-home-user-hackatonoma/e77f010d-b8c6-588a-a375-3aa4548717b1/scratchpad/deckgen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1005840" cy="1005840"/>
          </a:xfrm>
          <a:prstGeom prst="rect">
            <a:avLst/>
          </a:prstGeom>
        </p:spPr>
      </p:pic>
      <p:sp>
        <p:nvSpPr>
          <p:cNvPr id="4" name="Клиент: подпись"/>
          <p:cNvSpPr txBox="1"/>
          <p:nvPr/>
        </p:nvSpPr>
        <p:spPr>
          <a:xfrm>
            <a:off x="548640" y="2377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Частное лицо</a:t>
            </a:r>
            <a:endParaRPr lang="en-US" sz="1400" dirty="0"/>
          </a:p>
        </p:txBody>
      </p:sp>
      <p:sp>
        <p:nvSpPr>
          <p:cNvPr id="5" name="Клиент: шаг 1"/>
          <p:cNvSpPr/>
          <p:nvPr/>
        </p:nvSpPr>
        <p:spPr>
          <a:xfrm>
            <a:off x="214884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6" name="Клиент: номер 1"/>
          <p:cNvSpPr/>
          <p:nvPr/>
        </p:nvSpPr>
        <p:spPr>
          <a:xfrm>
            <a:off x="233172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7" name="Клиент: цифра 1"/>
          <p:cNvSpPr txBox="1"/>
          <p:nvPr/>
        </p:nvSpPr>
        <p:spPr>
          <a:xfrm>
            <a:off x="233172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Клиент: этап 1"/>
          <p:cNvSpPr txBox="1"/>
          <p:nvPr/>
        </p:nvSpPr>
        <p:spPr>
          <a:xfrm>
            <a:off x="280720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Задача</a:t>
            </a:r>
            <a:endParaRPr lang="en-US" sz="1400" dirty="0"/>
          </a:p>
        </p:txBody>
      </p:sp>
      <p:sp>
        <p:nvSpPr>
          <p:cNvPr id="9" name="Клиент: описание 1"/>
          <p:cNvSpPr txBox="1"/>
          <p:nvPr/>
        </p:nvSpPr>
        <p:spPr>
          <a:xfrm>
            <a:off x="233172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Выбирает товар или раздел «Стройка»</a:t>
            </a:r>
            <a:endParaRPr lang="en-US" sz="1200" dirty="0"/>
          </a:p>
        </p:txBody>
      </p:sp>
      <p:sp>
        <p:nvSpPr>
          <p:cNvPr id="10" name="Клиент: шаг 2"/>
          <p:cNvSpPr/>
          <p:nvPr/>
        </p:nvSpPr>
        <p:spPr>
          <a:xfrm>
            <a:off x="406908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1" name="Клиент: номер 2"/>
          <p:cNvSpPr/>
          <p:nvPr/>
        </p:nvSpPr>
        <p:spPr>
          <a:xfrm>
            <a:off x="425196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2" name="Клиент: цифра 2"/>
          <p:cNvSpPr txBox="1"/>
          <p:nvPr/>
        </p:nvSpPr>
        <p:spPr>
          <a:xfrm>
            <a:off x="425196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Клиент: этап 2"/>
          <p:cNvSpPr txBox="1"/>
          <p:nvPr/>
        </p:nvSpPr>
        <p:spPr>
          <a:xfrm>
            <a:off x="472744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Решение</a:t>
            </a:r>
            <a:endParaRPr lang="en-US" sz="1400" dirty="0"/>
          </a:p>
        </p:txBody>
      </p:sp>
      <p:sp>
        <p:nvSpPr>
          <p:cNvPr id="14" name="Клиент: описание 2"/>
          <p:cNvSpPr txBox="1"/>
          <p:nvPr/>
        </p:nvSpPr>
        <p:spPr>
          <a:xfrm>
            <a:off x="425196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Смета или консультант по бюджету</a:t>
            </a:r>
            <a:endParaRPr lang="en-US" sz="1200" dirty="0"/>
          </a:p>
        </p:txBody>
      </p:sp>
      <p:sp>
        <p:nvSpPr>
          <p:cNvPr id="15" name="Клиент: шаг 3"/>
          <p:cNvSpPr/>
          <p:nvPr/>
        </p:nvSpPr>
        <p:spPr>
          <a:xfrm>
            <a:off x="598932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6" name="Клиент: номер 3"/>
          <p:cNvSpPr/>
          <p:nvPr/>
        </p:nvSpPr>
        <p:spPr>
          <a:xfrm>
            <a:off x="617220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17" name="Клиент: цифра 3"/>
          <p:cNvSpPr txBox="1"/>
          <p:nvPr/>
        </p:nvSpPr>
        <p:spPr>
          <a:xfrm>
            <a:off x="617220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Клиент: этап 3"/>
          <p:cNvSpPr txBox="1"/>
          <p:nvPr/>
        </p:nvSpPr>
        <p:spPr>
          <a:xfrm>
            <a:off x="664768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Подбор</a:t>
            </a:r>
            <a:endParaRPr lang="en-US" sz="1400" dirty="0"/>
          </a:p>
        </p:txBody>
      </p:sp>
      <p:sp>
        <p:nvSpPr>
          <p:cNvPr id="19" name="Клиент: описание 3"/>
          <p:cNvSpPr txBox="1"/>
          <p:nvPr/>
        </p:nvSpPr>
        <p:spPr>
          <a:xfrm>
            <a:off x="617220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Мастер или бригада с фильтрами</a:t>
            </a:r>
            <a:endParaRPr lang="en-US" sz="1200" dirty="0"/>
          </a:p>
        </p:txBody>
      </p:sp>
      <p:sp>
        <p:nvSpPr>
          <p:cNvPr id="20" name="Клиент: шаг 4"/>
          <p:cNvSpPr/>
          <p:nvPr/>
        </p:nvSpPr>
        <p:spPr>
          <a:xfrm>
            <a:off x="790956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21" name="Клиент: номер 4"/>
          <p:cNvSpPr/>
          <p:nvPr/>
        </p:nvSpPr>
        <p:spPr>
          <a:xfrm>
            <a:off x="809244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22" name="Клиент: цифра 4"/>
          <p:cNvSpPr txBox="1"/>
          <p:nvPr/>
        </p:nvSpPr>
        <p:spPr>
          <a:xfrm>
            <a:off x="809244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3" name="Клиент: этап 4"/>
          <p:cNvSpPr txBox="1"/>
          <p:nvPr/>
        </p:nvSpPr>
        <p:spPr>
          <a:xfrm>
            <a:off x="856792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Работа</a:t>
            </a:r>
            <a:endParaRPr lang="en-US" sz="1400" dirty="0"/>
          </a:p>
        </p:txBody>
      </p:sp>
      <p:sp>
        <p:nvSpPr>
          <p:cNvPr id="24" name="Клиент: описание 4"/>
          <p:cNvSpPr txBox="1"/>
          <p:nvPr/>
        </p:nvSpPr>
        <p:spPr>
          <a:xfrm>
            <a:off x="809244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Материалы к дате, фото этапов</a:t>
            </a:r>
            <a:endParaRPr lang="en-US" sz="1200" dirty="0"/>
          </a:p>
        </p:txBody>
      </p:sp>
      <p:sp>
        <p:nvSpPr>
          <p:cNvPr id="25" name="Клиент: шаг 5"/>
          <p:cNvSpPr/>
          <p:nvPr/>
        </p:nvSpPr>
        <p:spPr>
          <a:xfrm>
            <a:off x="9829800" y="12801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26" name="Клиент: номер 5"/>
          <p:cNvSpPr/>
          <p:nvPr/>
        </p:nvSpPr>
        <p:spPr>
          <a:xfrm>
            <a:off x="10012680" y="1444752"/>
            <a:ext cx="384048" cy="384048"/>
          </a:xfrm>
          <a:prstGeom prst="ellipse">
            <a:avLst/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</p:spPr>
      </p:sp>
      <p:sp>
        <p:nvSpPr>
          <p:cNvPr id="27" name="Клиент: цифра 5"/>
          <p:cNvSpPr txBox="1"/>
          <p:nvPr/>
        </p:nvSpPr>
        <p:spPr>
          <a:xfrm>
            <a:off x="10012680" y="14447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Клиент: этап 5"/>
          <p:cNvSpPr txBox="1"/>
          <p:nvPr/>
        </p:nvSpPr>
        <p:spPr>
          <a:xfrm>
            <a:off x="10488168" y="1463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Приёмка</a:t>
            </a:r>
            <a:endParaRPr lang="en-US" sz="1400" dirty="0"/>
          </a:p>
        </p:txBody>
      </p:sp>
      <p:sp>
        <p:nvSpPr>
          <p:cNvPr id="29" name="Клиент: описание 5"/>
          <p:cNvSpPr txBox="1"/>
          <p:nvPr/>
        </p:nvSpPr>
        <p:spPr>
          <a:xfrm>
            <a:off x="10012680" y="19385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Оплата этапа, гарантия, отзыв</a:t>
            </a:r>
            <a:endParaRPr lang="en-US" sz="1200" dirty="0"/>
          </a:p>
        </p:txBody>
      </p:sp>
      <p:pic>
        <p:nvPicPr>
          <p:cNvPr id="30" name="Мастер: иконка" descr="/tmp/claude-0/-home-user-hackatonoma/e77f010d-b8c6-588a-a375-3aa4548717b1/scratchpad/deckgen/assets/briefca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154680"/>
            <a:ext cx="1005840" cy="1005840"/>
          </a:xfrm>
          <a:prstGeom prst="rect">
            <a:avLst/>
          </a:prstGeom>
        </p:spPr>
      </p:pic>
      <p:sp>
        <p:nvSpPr>
          <p:cNvPr id="31" name="Мастер: подпись"/>
          <p:cNvSpPr txBox="1"/>
          <p:nvPr/>
        </p:nvSpPr>
        <p:spPr>
          <a:xfrm>
            <a:off x="548640" y="4206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Бизнес</a:t>
            </a:r>
            <a:endParaRPr lang="en-US" sz="1400" dirty="0"/>
          </a:p>
        </p:txBody>
      </p:sp>
      <p:sp>
        <p:nvSpPr>
          <p:cNvPr id="32" name="Мастер: шаг 1"/>
          <p:cNvSpPr/>
          <p:nvPr/>
        </p:nvSpPr>
        <p:spPr>
          <a:xfrm>
            <a:off x="214884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33" name="Мастер: номер 1"/>
          <p:cNvSpPr/>
          <p:nvPr/>
        </p:nvSpPr>
        <p:spPr>
          <a:xfrm>
            <a:off x="233172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34" name="Мастер: цифра 1"/>
          <p:cNvSpPr txBox="1"/>
          <p:nvPr/>
        </p:nvSpPr>
        <p:spPr>
          <a:xfrm>
            <a:off x="233172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35" name="Мастер: этап 1"/>
          <p:cNvSpPr txBox="1"/>
          <p:nvPr/>
        </p:nvSpPr>
        <p:spPr>
          <a:xfrm>
            <a:off x="280720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Вход</a:t>
            </a:r>
            <a:endParaRPr lang="en-US" sz="1400" dirty="0"/>
          </a:p>
        </p:txBody>
      </p:sp>
      <p:sp>
        <p:nvSpPr>
          <p:cNvPr id="36" name="Мастер: описание 1"/>
          <p:cNvSpPr txBox="1"/>
          <p:nvPr/>
        </p:nvSpPr>
        <p:spPr>
          <a:xfrm>
            <a:off x="233172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Бизнес: профиль, УНП, допуски</a:t>
            </a:r>
            <a:endParaRPr lang="en-US" sz="1200" dirty="0"/>
          </a:p>
        </p:txBody>
      </p:sp>
      <p:sp>
        <p:nvSpPr>
          <p:cNvPr id="37" name="Мастер: шаг 2"/>
          <p:cNvSpPr/>
          <p:nvPr/>
        </p:nvSpPr>
        <p:spPr>
          <a:xfrm>
            <a:off x="406908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38" name="Мастер: номер 2"/>
          <p:cNvSpPr/>
          <p:nvPr/>
        </p:nvSpPr>
        <p:spPr>
          <a:xfrm>
            <a:off x="425196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39" name="Мастер: цифра 2"/>
          <p:cNvSpPr txBox="1"/>
          <p:nvPr/>
        </p:nvSpPr>
        <p:spPr>
          <a:xfrm>
            <a:off x="425196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40" name="Мастер: этап 2"/>
          <p:cNvSpPr txBox="1"/>
          <p:nvPr/>
        </p:nvSpPr>
        <p:spPr>
          <a:xfrm>
            <a:off x="472744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Проверка</a:t>
            </a:r>
            <a:endParaRPr lang="en-US" sz="1400" dirty="0"/>
          </a:p>
        </p:txBody>
      </p:sp>
      <p:sp>
        <p:nvSpPr>
          <p:cNvPr id="41" name="Мастер: описание 2"/>
          <p:cNvSpPr txBox="1"/>
          <p:nvPr/>
        </p:nvSpPr>
        <p:spPr>
          <a:xfrm>
            <a:off x="425196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ЕГР, отзывы, договор субподряда</a:t>
            </a:r>
            <a:endParaRPr lang="en-US" sz="1200" dirty="0"/>
          </a:p>
        </p:txBody>
      </p:sp>
      <p:sp>
        <p:nvSpPr>
          <p:cNvPr id="42" name="Мастер: шаг 3"/>
          <p:cNvSpPr/>
          <p:nvPr/>
        </p:nvSpPr>
        <p:spPr>
          <a:xfrm>
            <a:off x="598932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3" name="Мастер: номер 3"/>
          <p:cNvSpPr/>
          <p:nvPr/>
        </p:nvSpPr>
        <p:spPr>
          <a:xfrm>
            <a:off x="617220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44" name="Мастер: цифра 3"/>
          <p:cNvSpPr txBox="1"/>
          <p:nvPr/>
        </p:nvSpPr>
        <p:spPr>
          <a:xfrm>
            <a:off x="617220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45" name="Мастер: этап 3"/>
          <p:cNvSpPr txBox="1"/>
          <p:nvPr/>
        </p:nvSpPr>
        <p:spPr>
          <a:xfrm>
            <a:off x="664768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Заявка</a:t>
            </a:r>
            <a:endParaRPr lang="en-US" sz="1400" dirty="0"/>
          </a:p>
        </p:txBody>
      </p:sp>
      <p:sp>
        <p:nvSpPr>
          <p:cNvPr id="46" name="Мастер: описание 3"/>
          <p:cNvSpPr txBox="1"/>
          <p:nvPr/>
        </p:nvSpPr>
        <p:spPr>
          <a:xfrm>
            <a:off x="617220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Принимает заказ от ОМА</a:t>
            </a:r>
            <a:endParaRPr lang="en-US" sz="1200" dirty="0"/>
          </a:p>
        </p:txBody>
      </p:sp>
      <p:sp>
        <p:nvSpPr>
          <p:cNvPr id="47" name="Мастер: шаг 4"/>
          <p:cNvSpPr/>
          <p:nvPr/>
        </p:nvSpPr>
        <p:spPr>
          <a:xfrm>
            <a:off x="790956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8" name="Мастер: номер 4"/>
          <p:cNvSpPr/>
          <p:nvPr/>
        </p:nvSpPr>
        <p:spPr>
          <a:xfrm>
            <a:off x="809244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49" name="Мастер: цифра 4"/>
          <p:cNvSpPr txBox="1"/>
          <p:nvPr/>
        </p:nvSpPr>
        <p:spPr>
          <a:xfrm>
            <a:off x="809244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50" name="Мастер: этап 4"/>
          <p:cNvSpPr txBox="1"/>
          <p:nvPr/>
        </p:nvSpPr>
        <p:spPr>
          <a:xfrm>
            <a:off x="856792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Закупка</a:t>
            </a:r>
            <a:endParaRPr lang="en-US" sz="1400" dirty="0"/>
          </a:p>
        </p:txBody>
      </p:sp>
      <p:sp>
        <p:nvSpPr>
          <p:cNvPr id="51" name="Мастер: описание 4"/>
          <p:cNvSpPr txBox="1"/>
          <p:nvPr/>
        </p:nvSpPr>
        <p:spPr>
          <a:xfrm>
            <a:off x="809244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Материалы по ценам OMA PRO</a:t>
            </a:r>
            <a:endParaRPr lang="en-US" sz="1200" dirty="0"/>
          </a:p>
        </p:txBody>
      </p:sp>
      <p:sp>
        <p:nvSpPr>
          <p:cNvPr id="52" name="Мастер: шаг 5"/>
          <p:cNvSpPr/>
          <p:nvPr/>
        </p:nvSpPr>
        <p:spPr>
          <a:xfrm>
            <a:off x="9829800" y="3108960"/>
            <a:ext cx="1783080" cy="150876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53" name="Мастер: номер 5"/>
          <p:cNvSpPr/>
          <p:nvPr/>
        </p:nvSpPr>
        <p:spPr>
          <a:xfrm>
            <a:off x="10012680" y="3273552"/>
            <a:ext cx="384048" cy="384048"/>
          </a:xfrm>
          <a:prstGeom prst="ellipse">
            <a:avLst/>
          </a:prstGeom>
          <a:solidFill>
            <a:srgbClr val="005DD6"/>
          </a:solidFill>
          <a:ln w="12700">
            <a:solidFill>
              <a:srgbClr val="005DD6"/>
            </a:solidFill>
            <a:prstDash val="solid"/>
          </a:ln>
        </p:spPr>
      </p:sp>
      <p:sp>
        <p:nvSpPr>
          <p:cNvPr id="54" name="Мастер: цифра 5"/>
          <p:cNvSpPr txBox="1"/>
          <p:nvPr/>
        </p:nvSpPr>
        <p:spPr>
          <a:xfrm>
            <a:off x="10012680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55" name="Мастер: этап 5"/>
          <p:cNvSpPr txBox="1"/>
          <p:nvPr/>
        </p:nvSpPr>
        <p:spPr>
          <a:xfrm>
            <a:off x="10488168" y="32918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Выплата</a:t>
            </a:r>
            <a:endParaRPr lang="en-US" sz="1400" dirty="0"/>
          </a:p>
        </p:txBody>
      </p:sp>
      <p:sp>
        <p:nvSpPr>
          <p:cNvPr id="56" name="Мастер: описание 5"/>
          <p:cNvSpPr txBox="1"/>
          <p:nvPr/>
        </p:nvSpPr>
        <p:spPr>
          <a:xfrm>
            <a:off x="10012680" y="376732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После приёмки клиентом</a:t>
            </a:r>
            <a:endParaRPr lang="en-US" sz="1200" dirty="0"/>
          </a:p>
        </p:txBody>
      </p:sp>
      <p:sp>
        <p:nvSpPr>
          <p:cNvPr id="57" name="Возврат в ОМА"/>
          <p:cNvSpPr/>
          <p:nvPr/>
        </p:nvSpPr>
        <p:spPr>
          <a:xfrm>
            <a:off x="548640" y="4937760"/>
            <a:ext cx="11094415" cy="1188720"/>
          </a:xfrm>
          <a:prstGeom prst="roundRect">
            <a:avLst>
              <a:gd name="adj" fmla="val 13846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58" name="Возврат: иконка" descr="/tmp/claude-0/-home-user-hackatonoma/e77f010d-b8c6-588a-a375-3aa4548717b1/scratchpad/deckgen/assets/doc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074920"/>
            <a:ext cx="914400" cy="914400"/>
          </a:xfrm>
          <a:prstGeom prst="rect">
            <a:avLst/>
          </a:prstGeom>
        </p:spPr>
      </p:pic>
      <p:sp>
        <p:nvSpPr>
          <p:cNvPr id="59" name="Возврат: заголовок"/>
          <p:cNvSpPr txBox="1"/>
          <p:nvPr/>
        </p:nvSpPr>
        <p:spPr>
          <a:xfrm>
            <a:off x="196596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9A3D"/>
                </a:solidFill>
              </a:rPr>
              <a:t>Возврат в ОМА</a:t>
            </a:r>
            <a:endParaRPr lang="en-US" sz="1700" dirty="0"/>
          </a:p>
        </p:txBody>
      </p:sp>
      <p:sp>
        <p:nvSpPr>
          <p:cNvPr id="60" name="Возврат: текст"/>
          <p:cNvSpPr txBox="1"/>
          <p:nvPr/>
        </p:nvSpPr>
        <p:spPr>
          <a:xfrm>
            <a:off x="1965960" y="5468112"/>
            <a:ext cx="9509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Клиента возвращают Паспорт дома, напоминания об уходе, бонусы «Баланс» и «мой мастер» для повторного вызова. Мастера — поток заявок и закупка в одном месте.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Как это выглядит: кликабельный прототип</a:t>
            </a:r>
            <a:endParaRPr lang="en-US" sz="3200" dirty="0"/>
          </a:p>
        </p:txBody>
      </p:sp>
      <p:sp>
        <p:nvSpPr>
          <p:cNvPr id="3" name="Ссылка на прототип"/>
          <p:cNvSpPr txBox="1"/>
          <p:nvPr/>
        </p:nvSpPr>
        <p:spPr>
          <a:xfrm>
            <a:off x="548640" y="1078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kvasiuum.github.io/hackatonoma</a:t>
            </a:r>
            <a:endParaRPr lang="en-US" sz="1300" dirty="0"/>
          </a:p>
        </p:txBody>
      </p:sp>
      <p:pic>
        <p:nvPicPr>
          <p:cNvPr id="4" name="Экран: Регистрация: частное лицо или бизнес" descr="Регистрация: частное лицо или бизн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1965960" cy="4132333"/>
          </a:xfrm>
          <a:prstGeom prst="rect">
            <a:avLst/>
          </a:prstGeom>
        </p:spPr>
      </p:pic>
      <p:sp>
        <p:nvSpPr>
          <p:cNvPr id="5" name="Подпись: Регистрация: частное лицо или бизнес"/>
          <p:cNvSpPr txBox="1"/>
          <p:nvPr/>
        </p:nvSpPr>
        <p:spPr>
          <a:xfrm>
            <a:off x="502920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Регистрация: частное лицо или бизнес</a:t>
            </a:r>
            <a:endParaRPr lang="en-US" sz="1200" dirty="0"/>
          </a:p>
        </p:txBody>
      </p:sp>
      <p:pic>
        <p:nvPicPr>
          <p:cNvPr id="6" name="Экран: Стройка: категории как на маркетплейсе" descr="Стройка: категории как на маркетплейс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0754" y="1463040"/>
            <a:ext cx="1965960" cy="4132333"/>
          </a:xfrm>
          <a:prstGeom prst="rect">
            <a:avLst/>
          </a:prstGeom>
        </p:spPr>
      </p:pic>
      <p:sp>
        <p:nvSpPr>
          <p:cNvPr id="7" name="Подпись: Стройка: категории как на маркетплейсе"/>
          <p:cNvSpPr txBox="1"/>
          <p:nvPr/>
        </p:nvSpPr>
        <p:spPr>
          <a:xfrm>
            <a:off x="2785034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Стройка: категории как на маркетплейсе</a:t>
            </a:r>
            <a:endParaRPr lang="en-US" sz="1200" dirty="0"/>
          </a:p>
        </p:txBody>
      </p:sp>
      <p:pic>
        <p:nvPicPr>
          <p:cNvPr id="8" name="Экран: Мастера и бригады с фильтрами" descr="Мастера и бригады с фильтрам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868" y="1463040"/>
            <a:ext cx="1965960" cy="4132333"/>
          </a:xfrm>
          <a:prstGeom prst="rect">
            <a:avLst/>
          </a:prstGeom>
        </p:spPr>
      </p:pic>
      <p:sp>
        <p:nvSpPr>
          <p:cNvPr id="9" name="Подпись: Мастера и бригады с фильтрами"/>
          <p:cNvSpPr txBox="1"/>
          <p:nvPr/>
        </p:nvSpPr>
        <p:spPr>
          <a:xfrm>
            <a:off x="5067148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Мастера и бригады с фильтрами</a:t>
            </a:r>
            <a:endParaRPr lang="en-US" sz="1200" dirty="0"/>
          </a:p>
        </p:txBody>
      </p:sp>
      <p:pic>
        <p:nvPicPr>
          <p:cNvPr id="10" name="Экран: Подбор решения и бюджета" descr="Подбор решения и бюджет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4981" y="1463040"/>
            <a:ext cx="1965960" cy="4132333"/>
          </a:xfrm>
          <a:prstGeom prst="rect">
            <a:avLst/>
          </a:prstGeom>
        </p:spPr>
      </p:pic>
      <p:sp>
        <p:nvSpPr>
          <p:cNvPr id="11" name="Подпись: Подбор решения и бюджета"/>
          <p:cNvSpPr txBox="1"/>
          <p:nvPr/>
        </p:nvSpPr>
        <p:spPr>
          <a:xfrm>
            <a:off x="7349261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Подбор решения и бюджета</a:t>
            </a:r>
            <a:endParaRPr lang="en-US" sz="1200" dirty="0"/>
          </a:p>
        </p:txBody>
      </p:sp>
      <p:pic>
        <p:nvPicPr>
          <p:cNvPr id="12" name="Экран: Бизнес: заказы и заработок" descr="Бизнес: заказы и заработок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095" y="1463040"/>
            <a:ext cx="1965960" cy="4132333"/>
          </a:xfrm>
          <a:prstGeom prst="rect">
            <a:avLst/>
          </a:prstGeom>
        </p:spPr>
      </p:pic>
      <p:sp>
        <p:nvSpPr>
          <p:cNvPr id="13" name="Подпись: Бизнес: заказы и заработок"/>
          <p:cNvSpPr txBox="1"/>
          <p:nvPr/>
        </p:nvSpPr>
        <p:spPr>
          <a:xfrm>
            <a:off x="9631375" y="5641093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Бизнес: заказы и заработок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Экономика пилота в Минске</a:t>
            </a:r>
            <a:endParaRPr lang="en-US" sz="3200" dirty="0"/>
          </a:p>
        </p:txBody>
      </p:sp>
      <p:sp>
        <p:nvSpPr>
          <p:cNvPr id="3" name="Метрика 1"/>
          <p:cNvSpPr/>
          <p:nvPr/>
        </p:nvSpPr>
        <p:spPr>
          <a:xfrm>
            <a:off x="548640" y="1325880"/>
            <a:ext cx="3566160" cy="1463040"/>
          </a:xfrm>
          <a:prstGeom prst="roundRect">
            <a:avLst>
              <a:gd name="adj" fmla="val 1125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4" name="Метрика 1: число"/>
          <p:cNvSpPr txBox="1"/>
          <p:nvPr/>
        </p:nvSpPr>
        <p:spPr>
          <a:xfrm>
            <a:off x="82296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300–500 тыс.</a:t>
            </a:r>
            <a:endParaRPr lang="en-US" sz="3600" dirty="0"/>
          </a:p>
        </p:txBody>
      </p:sp>
      <p:sp>
        <p:nvSpPr>
          <p:cNvPr id="5" name="Метрика 1: подпись"/>
          <p:cNvSpPr txBox="1"/>
          <p:nvPr/>
        </p:nvSpPr>
        <p:spPr>
          <a:xfrm>
            <a:off x="82296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BFF0"/>
                </a:solidFill>
              </a:rPr>
              <a:t>BYN затраты на пилот за 12 месяцев</a:t>
            </a:r>
            <a:endParaRPr lang="en-US" sz="1300" dirty="0"/>
          </a:p>
        </p:txBody>
      </p:sp>
      <p:sp>
        <p:nvSpPr>
          <p:cNvPr id="6" name="Метрика 2"/>
          <p:cNvSpPr/>
          <p:nvPr/>
        </p:nvSpPr>
        <p:spPr>
          <a:xfrm>
            <a:off x="4297680" y="1325880"/>
            <a:ext cx="3566160" cy="1463040"/>
          </a:xfrm>
          <a:prstGeom prst="roundRect">
            <a:avLst>
              <a:gd name="adj" fmla="val 11250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7" name="Метрика 2: число"/>
          <p:cNvSpPr txBox="1"/>
          <p:nvPr/>
        </p:nvSpPr>
        <p:spPr>
          <a:xfrm>
            <a:off x="457200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≈160 BYN</a:t>
            </a:r>
            <a:endParaRPr lang="en-US" sz="3600" dirty="0"/>
          </a:p>
        </p:txBody>
      </p:sp>
      <p:sp>
        <p:nvSpPr>
          <p:cNvPr id="8" name="Метрика 2: подпись"/>
          <p:cNvSpPr txBox="1"/>
          <p:nvPr/>
        </p:nvSpPr>
        <p:spPr>
          <a:xfrm>
            <a:off x="457200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BFF0"/>
                </a:solidFill>
              </a:rPr>
              <a:t>доход ОМА с заказа: 400 BYN работ и 600 BYN материалов</a:t>
            </a:r>
            <a:endParaRPr lang="en-US" sz="1300" dirty="0"/>
          </a:p>
        </p:txBody>
      </p:sp>
      <p:sp>
        <p:nvSpPr>
          <p:cNvPr id="9" name="Метрика 3"/>
          <p:cNvSpPr/>
          <p:nvPr/>
        </p:nvSpPr>
        <p:spPr>
          <a:xfrm>
            <a:off x="8046720" y="1325880"/>
            <a:ext cx="3566160" cy="1463040"/>
          </a:xfrm>
          <a:prstGeom prst="roundRect">
            <a:avLst>
              <a:gd name="adj" fmla="val 11250"/>
            </a:avLst>
          </a:prstGeom>
          <a:solidFill>
            <a:srgbClr val="FF8200"/>
          </a:solidFill>
          <a:ln w="12700">
            <a:solidFill>
              <a:srgbClr val="FF8200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sp>
        <p:nvSpPr>
          <p:cNvPr id="10" name="Метрика 3: число"/>
          <p:cNvSpPr txBox="1"/>
          <p:nvPr/>
        </p:nvSpPr>
        <p:spPr>
          <a:xfrm>
            <a:off x="8321040" y="1463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D1300"/>
                </a:solidFill>
              </a:rPr>
              <a:t>≈2 500</a:t>
            </a:r>
            <a:endParaRPr lang="en-US" sz="3600" dirty="0"/>
          </a:p>
        </p:txBody>
      </p:sp>
      <p:sp>
        <p:nvSpPr>
          <p:cNvPr id="11" name="Метрика 3: подпись"/>
          <p:cNvSpPr txBox="1"/>
          <p:nvPr/>
        </p:nvSpPr>
        <p:spPr>
          <a:xfrm>
            <a:off x="8321040" y="21762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2600"/>
                </a:solidFill>
              </a:rPr>
              <a:t>заказов в год — точка окупаемости</a:t>
            </a:r>
            <a:endParaRPr lang="en-US" sz="1300" dirty="0"/>
          </a:p>
        </p:txBody>
      </p:sp>
      <p:sp>
        <p:nvSpPr>
          <p:cNvPr id="12" name="Затраты"/>
          <p:cNvSpPr/>
          <p:nvPr/>
        </p:nvSpPr>
        <p:spPr>
          <a:xfrm>
            <a:off x="548640" y="3017520"/>
            <a:ext cx="356616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3" name="Затраты: иконка" descr="/tmp/claude-0/-home-user-hackatonoma/e77f010d-b8c6-588a-a375-3aa4548717b1/scratchpad/deckgen/asset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3127248"/>
            <a:ext cx="658368" cy="658368"/>
          </a:xfrm>
          <a:prstGeom prst="rect">
            <a:avLst/>
          </a:prstGeom>
        </p:spPr>
      </p:pic>
      <p:sp>
        <p:nvSpPr>
          <p:cNvPr id="14" name="Затраты: заголовок"/>
          <p:cNvSpPr txBox="1"/>
          <p:nvPr/>
        </p:nvSpPr>
        <p:spPr>
          <a:xfrm>
            <a:off x="82296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Затраты</a:t>
            </a:r>
            <a:endParaRPr lang="en-US" sz="2000" dirty="0"/>
          </a:p>
        </p:txBody>
      </p:sp>
      <p:sp>
        <p:nvSpPr>
          <p:cNvPr id="15" name="Затраты: пункты"/>
          <p:cNvSpPr txBox="1"/>
          <p:nvPr/>
        </p:nvSpPr>
        <p:spPr>
          <a:xfrm>
            <a:off x="822960" y="37490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Раздел в приложении и кабинет мастера — 150–250 тыс. BYN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Привлечение и проверка мастеров, страховка, поддержка — 150–250 тыс. BYN</a:t>
            </a:r>
            <a:endParaRPr lang="en-US" sz="1300" dirty="0"/>
          </a:p>
        </p:txBody>
      </p:sp>
      <p:sp>
        <p:nvSpPr>
          <p:cNvPr id="16" name="Доход"/>
          <p:cNvSpPr/>
          <p:nvPr/>
        </p:nvSpPr>
        <p:spPr>
          <a:xfrm>
            <a:off x="4297680" y="3017520"/>
            <a:ext cx="356616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17" name="Доход: иконка" descr="/tmp/claude-0/-home-user-hackatonoma/e77f010d-b8c6-588a-a375-3aa4548717b1/scratchpad/deckgen/assets/moneyba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127248"/>
            <a:ext cx="658368" cy="658368"/>
          </a:xfrm>
          <a:prstGeom prst="rect">
            <a:avLst/>
          </a:prstGeom>
        </p:spPr>
      </p:pic>
      <p:sp>
        <p:nvSpPr>
          <p:cNvPr id="18" name="Доход: заголовок"/>
          <p:cNvSpPr txBox="1"/>
          <p:nvPr/>
        </p:nvSpPr>
        <p:spPr>
          <a:xfrm>
            <a:off x="45720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Доход</a:t>
            </a:r>
            <a:endParaRPr lang="en-US" sz="2000" dirty="0"/>
          </a:p>
        </p:txBody>
      </p:sp>
      <p:sp>
        <p:nvSpPr>
          <p:cNvPr id="19" name="Доход: пункты"/>
          <p:cNvSpPr txBox="1"/>
          <p:nvPr/>
        </p:nvSpPr>
        <p:spPr>
          <a:xfrm>
            <a:off x="4572000" y="37490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Около 10% на работах: ОМА — исполнитель, мастер — субподрядчик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Маржа на материалах по смете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Закупка мастеров по OMA PRO</a:t>
            </a:r>
            <a:endParaRPr lang="en-US" sz="1300" dirty="0"/>
          </a:p>
        </p:txBody>
      </p:sp>
      <p:sp>
        <p:nvSpPr>
          <p:cNvPr id="20" name="Экономия"/>
          <p:cNvSpPr/>
          <p:nvPr/>
        </p:nvSpPr>
        <p:spPr>
          <a:xfrm>
            <a:off x="8046720" y="3017520"/>
            <a:ext cx="3566160" cy="219456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1433">
                <a:alpha val="8000"/>
              </a:srgbClr>
            </a:outerShdw>
          </a:effectLst>
        </p:spPr>
      </p:sp>
      <p:pic>
        <p:nvPicPr>
          <p:cNvPr id="21" name="Экономия: иконка" descr="/tmp/claude-0/-home-user-hackatonoma/e77f010d-b8c6-588a-a375-3aa4548717b1/scratchpad/deckgen/assets/brick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3127248"/>
            <a:ext cx="658368" cy="658368"/>
          </a:xfrm>
          <a:prstGeom prst="rect">
            <a:avLst/>
          </a:prstGeom>
        </p:spPr>
      </p:pic>
      <p:sp>
        <p:nvSpPr>
          <p:cNvPr id="22" name="Экономия: заголовок"/>
          <p:cNvSpPr txBox="1"/>
          <p:nvPr/>
        </p:nvSpPr>
        <p:spPr>
          <a:xfrm>
            <a:off x="832104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Экономия</a:t>
            </a:r>
            <a:endParaRPr lang="en-US" sz="2000" dirty="0"/>
          </a:p>
        </p:txBody>
      </p:sp>
      <p:sp>
        <p:nvSpPr>
          <p:cNvPr id="23" name="Экономия: пункты"/>
          <p:cNvSpPr txBox="1"/>
          <p:nvPr/>
        </p:nvSpPr>
        <p:spPr>
          <a:xfrm>
            <a:off x="8321040" y="3749040"/>
            <a:ext cx="3063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Подбор и консультации уходят из магазина в приложение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Меньше возвратов: смета считается по проекту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Трафик уже есть: магазины, OMA PRO и «Баланс»</a:t>
            </a:r>
            <a:endParaRPr lang="en-US" sz="1300" dirty="0"/>
          </a:p>
        </p:txBody>
      </p:sp>
      <p:sp>
        <p:nvSpPr>
          <p:cNvPr id="24" name="Следующий шаг"/>
          <p:cNvSpPr/>
          <p:nvPr/>
        </p:nvSpPr>
        <p:spPr>
          <a:xfrm>
            <a:off x="548640" y="5349240"/>
            <a:ext cx="11094415" cy="640080"/>
          </a:xfrm>
          <a:prstGeom prst="roundRect">
            <a:avLst>
              <a:gd name="adj" fmla="val 25714"/>
            </a:avLst>
          </a:prstGeom>
          <a:solidFill>
            <a:srgbClr val="24164F"/>
          </a:solidFill>
          <a:ln w="12700">
            <a:solidFill>
              <a:srgbClr val="24164F"/>
            </a:solidFill>
            <a:prstDash val="solid"/>
          </a:ln>
        </p:spPr>
      </p:sp>
      <p:sp>
        <p:nvSpPr>
          <p:cNvPr id="25" name="Следующий шаг: текст"/>
          <p:cNvSpPr txBox="1"/>
          <p:nvPr/>
        </p:nvSpPr>
        <p:spPr>
          <a:xfrm>
            <a:off x="822960" y="539496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3D"/>
                </a:solidFill>
              </a:rPr>
              <a:t>Следующий шаг: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пилот в Минске на ремонте санузлов и установке, затем кухни, дача и регионы — та же модель на новые категории</a:t>
            </a:r>
            <a:endParaRPr lang="en-US" sz="1400" dirty="0"/>
          </a:p>
        </p:txBody>
      </p:sp>
      <p:sp>
        <p:nvSpPr>
          <p:cNvPr id="26" name="Правовая основа"/>
          <p:cNvSpPr txBox="1"/>
          <p:nvPr/>
        </p:nvSpPr>
        <p:spPr>
          <a:xfrm>
            <a:off x="548640" y="606247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По законам РБ: ОМА — исполнитель по бытовому подряду (ГК, Закон «О защите прав потребителей»), мастера — субподрядчики, данные — по Закону № 99-З, хранение в Беларуси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MA dlya doma">
  <a:themeElements>
    <a:clrScheme name="OMA dlya doma">
      <a:dk1>
        <a:srgbClr val="1A1433"/>
      </a:dk1>
      <a:lt1>
        <a:srgbClr val="FFFFFF"/>
      </a:lt1>
      <a:dk2>
        <a:srgbClr val="24164F"/>
      </a:dk2>
      <a:lt2>
        <a:srgbClr val="F3F5FA"/>
      </a:lt2>
      <a:accent1>
        <a:srgbClr val="FF8200"/>
      </a:accent1>
      <a:accent2>
        <a:srgbClr val="005DD6"/>
      </a:accent2>
      <a:accent3>
        <a:srgbClr val="37235E"/>
      </a:accent3>
      <a:accent4>
        <a:srgbClr val="1FB5C9"/>
      </a:accent4>
      <a:accent5>
        <a:srgbClr val="E0457B"/>
      </a:accent5>
      <a:accent6>
        <a:srgbClr val="6B7385"/>
      </a:accent6>
      <a:hlink>
        <a:srgbClr val="005DD6"/>
      </a:hlink>
      <a:folHlink>
        <a:srgbClr val="37235E"/>
      </a:folHlink>
    </a:clrScheme>
    <a:fontScheme name="OMA dlya dom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ОМА для дома</dc:title>
  <dc:subject>PptxGenJS Presentation</dc:subject>
  <dc:creator>Мовсик Алексей, Мухин Захар, Гайдук Никита</dc:creator>
  <cp:lastModifiedBy>Мовсик Алексей, Мухин Захар, Гайдук Никита</cp:lastModifiedBy>
  <cp:revision>1</cp:revision>
  <dcterms:created xsi:type="dcterms:W3CDTF">2026-10-28T15:04:15Z</dcterms:created>
  <dcterms:modified xsi:type="dcterms:W3CDTF">2026-10-28T15:04:15Z</dcterms:modified>
</cp:coreProperties>
</file>